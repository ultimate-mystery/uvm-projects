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72" r:id="rId2"/>
    <p:sldId id="259" r:id="rId3"/>
    <p:sldId id="327" r:id="rId4"/>
    <p:sldId id="325" r:id="rId5"/>
    <p:sldId id="326" r:id="rId6"/>
    <p:sldId id="328" r:id="rId7"/>
    <p:sldId id="329" r:id="rId8"/>
    <p:sldId id="330" r:id="rId9"/>
    <p:sldId id="331" r:id="rId10"/>
    <p:sldId id="332" r:id="rId11"/>
    <p:sldId id="333" r:id="rId12"/>
    <p:sldId id="334" r:id="rId13"/>
    <p:sldId id="335" r:id="rId14"/>
    <p:sldId id="336" r:id="rId15"/>
    <p:sldId id="337" r:id="rId16"/>
    <p:sldId id="338" r:id="rId17"/>
    <p:sldId id="339" r:id="rId18"/>
    <p:sldId id="340" r:id="rId19"/>
    <p:sldId id="344" r:id="rId20"/>
    <p:sldId id="358" r:id="rId21"/>
    <p:sldId id="362" r:id="rId22"/>
    <p:sldId id="361" r:id="rId23"/>
    <p:sldId id="346" r:id="rId24"/>
    <p:sldId id="347" r:id="rId25"/>
    <p:sldId id="348" r:id="rId26"/>
    <p:sldId id="349" r:id="rId27"/>
    <p:sldId id="363" r:id="rId28"/>
    <p:sldId id="364" r:id="rId29"/>
    <p:sldId id="343" r:id="rId30"/>
    <p:sldId id="365" r:id="rId31"/>
    <p:sldId id="366" r:id="rId32"/>
    <p:sldId id="367" r:id="rId33"/>
    <p:sldId id="368" r:id="rId34"/>
    <p:sldId id="352" r:id="rId35"/>
    <p:sldId id="353" r:id="rId36"/>
    <p:sldId id="354" r:id="rId37"/>
    <p:sldId id="355" r:id="rId38"/>
    <p:sldId id="369" r:id="rId39"/>
    <p:sldId id="297" r:id="rId40"/>
  </p:sldIdLst>
  <p:sldSz cx="12192000" cy="6858000"/>
  <p:notesSz cx="6858000" cy="9144000"/>
  <p:embeddedFontLst>
    <p:embeddedFont>
      <p:font typeface="굴림체" panose="020B0609000101010101" pitchFamily="49" charset="-127"/>
      <p:regular r:id="rId43"/>
    </p:embeddedFont>
    <p:embeddedFont>
      <p:font typeface="맑은 고딕" panose="020B0503020000020004" pitchFamily="34" charset="-127"/>
      <p:regular r:id="rId44"/>
      <p:bold r:id="rId4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659A"/>
    <a:srgbClr val="42639B"/>
    <a:srgbClr val="6DBAF3"/>
    <a:srgbClr val="224275"/>
    <a:srgbClr val="FEA757"/>
    <a:srgbClr val="844766"/>
    <a:srgbClr val="0F6CB1"/>
    <a:srgbClr val="4C4143"/>
    <a:srgbClr val="000000"/>
    <a:srgbClr val="222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39" autoAdjust="0"/>
  </p:normalViewPr>
  <p:slideViewPr>
    <p:cSldViewPr>
      <p:cViewPr varScale="1">
        <p:scale>
          <a:sx n="79" d="100"/>
          <a:sy n="79" d="100"/>
        </p:scale>
        <p:origin x="850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-3870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CFBE2-2B8D-499C-81C9-2CD5B3EB8E93}" type="datetimeFigureOut">
              <a:rPr lang="ko-KR" altLang="en-US" smtClean="0"/>
              <a:pPr/>
              <a:t>2025-01-30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54DD7E-3179-445A-81DB-781C4554AFF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95366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545AC5-813F-4ED1-B011-8EA17CB93331}" type="datetimeFigureOut">
              <a:rPr lang="ko-KR" altLang="en-US" smtClean="0"/>
              <a:pPr/>
              <a:t>2025-01-30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04B90-27FD-422C-8CC6-2AADAD122D0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07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04B90-27FD-422C-8CC6-2AADAD122D08}" type="slidenum">
              <a:rPr lang="ko-KR" altLang="en-US" smtClean="0"/>
              <a:pPr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3593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6733-6F27-4404-AB51-585418F146E5}" type="datetimeFigureOut">
              <a:rPr lang="ko-KR" altLang="en-US" smtClean="0"/>
              <a:pPr/>
              <a:t>2025-01-30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제목 1"/>
          <p:cNvSpPr>
            <a:spLocks noGrp="1"/>
          </p:cNvSpPr>
          <p:nvPr>
            <p:ph type="ctrTitle" hasCustomPrompt="1"/>
          </p:nvPr>
        </p:nvSpPr>
        <p:spPr>
          <a:xfrm>
            <a:off x="1487488" y="4437115"/>
            <a:ext cx="9806880" cy="1400361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5400" kern="1200" baseline="0" dirty="0">
                <a:solidFill>
                  <a:srgbClr val="224275"/>
                </a:solidFill>
                <a:effectLst/>
                <a:latin typeface="+mj-lt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입력하시오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6733-6F27-4404-AB51-585418F146E5}" type="datetimeFigureOut">
              <a:rPr lang="ko-KR" altLang="en-US" smtClean="0"/>
              <a:pPr/>
              <a:t>2025-01-30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6733-6F27-4404-AB51-585418F146E5}" type="datetimeFigureOut">
              <a:rPr lang="ko-KR" altLang="en-US" smtClean="0"/>
              <a:pPr/>
              <a:t>2025-01-30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31371" y="259812"/>
            <a:ext cx="8586972" cy="796908"/>
          </a:xfr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500" b="1" kern="1200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ED3D6733-6F27-4404-AB51-585418F146E5}" type="datetimeFigureOut">
              <a:rPr lang="ko-KR" altLang="en-US" smtClean="0"/>
              <a:pPr/>
              <a:t>2025-01-30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431373" y="1751529"/>
            <a:ext cx="11492423" cy="4614943"/>
          </a:xfrm>
        </p:spPr>
        <p:txBody>
          <a:bodyPr/>
          <a:lstStyle>
            <a:lvl1pPr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</a:defRPr>
            </a:lvl1pPr>
            <a:lvl2pPr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</a:defRPr>
            </a:lvl2pPr>
            <a:lvl3pPr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</a:defRPr>
            </a:lvl3pPr>
            <a:lvl4pPr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</a:defRPr>
            </a:lvl4pPr>
            <a:lvl5pPr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0" y="6500837"/>
            <a:ext cx="2844800" cy="220641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fld id="{ED3D6733-6F27-4404-AB51-585418F146E5}" type="datetimeFigureOut">
              <a:rPr lang="ko-KR" altLang="en-US" smtClean="0"/>
              <a:pPr/>
              <a:t>2025-01-30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165600" y="6500837"/>
            <a:ext cx="3860800" cy="220641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7600" y="6500837"/>
            <a:ext cx="2844800" cy="220641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431371" y="259812"/>
            <a:ext cx="8586972" cy="796908"/>
          </a:xfr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500" b="1" kern="1200" baseline="0" dirty="0">
                <a:solidFill>
                  <a:srgbClr val="45659A"/>
                </a:solidFill>
                <a:effectLst/>
                <a:latin typeface="+mj-lt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431373" y="1751529"/>
            <a:ext cx="11492423" cy="4614943"/>
          </a:xfrm>
        </p:spPr>
        <p:txBody>
          <a:bodyPr/>
          <a:lstStyle>
            <a:lvl1pPr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</a:defRPr>
            </a:lvl1pPr>
            <a:lvl2pPr algn="l"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</a:defRPr>
            </a:lvl2pPr>
            <a:lvl3pPr algn="l"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</a:defRPr>
            </a:lvl3pPr>
            <a:lvl4pPr algn="l"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</a:defRPr>
            </a:lvl4pPr>
            <a:lvl5pPr algn="l"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ED3D6733-6F27-4404-AB51-585418F146E5}" type="datetimeFigureOut">
              <a:rPr lang="ko-KR" altLang="en-US" smtClean="0"/>
              <a:pPr/>
              <a:t>2025-01-30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제목 1"/>
          <p:cNvSpPr>
            <a:spLocks noGrp="1"/>
          </p:cNvSpPr>
          <p:nvPr>
            <p:ph type="ctrTitle"/>
          </p:nvPr>
        </p:nvSpPr>
        <p:spPr>
          <a:xfrm>
            <a:off x="0" y="4293096"/>
            <a:ext cx="12192000" cy="1224136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mar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7000" kern="1200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맑은 고딕" pitchFamily="50" charset="-127"/>
                <a:cs typeface="+mj-cs"/>
              </a:defRPr>
            </a:lvl1pPr>
          </a:lstStyle>
          <a:p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6F9AB-C6BB-2B67-914E-E74B594F6C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7CB574-886D-E462-434A-CCDB0D473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34990-4B06-2930-51C8-A4FA100D9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FA4DC-EAA8-433A-9BCF-1B32C88C08C5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2337B-C786-6E67-C845-EA6F654D6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8EF1D-CB44-A377-0460-65355DEE1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F3F72-0CAE-4D21-8E1F-2B1A9771B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320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600" y="19026"/>
            <a:ext cx="10972800" cy="7969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062021"/>
            <a:ext cx="10972800" cy="5286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429399"/>
            <a:ext cx="28448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D6733-6F27-4404-AB51-585418F146E5}" type="datetimeFigureOut">
              <a:rPr lang="ko-KR" altLang="en-US" smtClean="0"/>
              <a:pPr/>
              <a:t>2025-01-30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429399"/>
            <a:ext cx="38608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429399"/>
            <a:ext cx="28448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1" r:id="rId3"/>
    <p:sldLayoutId id="2147483656" r:id="rId4"/>
    <p:sldLayoutId id="2147483650" r:id="rId5"/>
    <p:sldLayoutId id="2147483657" r:id="rId6"/>
    <p:sldLayoutId id="2147483658" r:id="rId7"/>
  </p:sldLayoutIdLst>
  <p:txStyles>
    <p:titleStyle>
      <a:lvl1pPr algn="l" defTabSz="914400" rtl="0" eaLnBrk="1" latinLnBrk="1" hangingPunct="1">
        <a:spcBef>
          <a:spcPct val="0"/>
        </a:spcBef>
        <a:buNone/>
        <a:defRPr lang="ko-KR" altLang="en-US" sz="3500" kern="1200">
          <a:solidFill>
            <a:sysClr val="windowText" lastClr="000000"/>
          </a:solidFill>
          <a:latin typeface="맑은 고딕" pitchFamily="50" charset="-127"/>
          <a:ea typeface="맑은 고딕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lang="ko-KR" altLang="en-US" sz="25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lang="ko-KR" altLang="en-US" sz="18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lang="ko-KR" altLang="en-US" sz="18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lang="ko-KR" altLang="en-US" sz="18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lang="ko-KR" altLang="en-US" sz="18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Projects\Courses\IC-Training-Center-Vietnam_Fundamentals-of-Digital-IC-Design\Session%2016\Final%20Project\Timer%20IP%20verification%20plan.xlsx" TargetMode="Externa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EC0F87-A974-D11F-E5CD-5C66A495D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65F5DCB-6987-6468-820A-3DCF0BCEC9E6}"/>
              </a:ext>
            </a:extLst>
          </p:cNvPr>
          <p:cNvSpPr/>
          <p:nvPr/>
        </p:nvSpPr>
        <p:spPr>
          <a:xfrm>
            <a:off x="-1" y="0"/>
            <a:ext cx="12192000" cy="4149080"/>
          </a:xfrm>
          <a:prstGeom prst="rect">
            <a:avLst/>
          </a:prstGeom>
          <a:gradFill>
            <a:gsLst>
              <a:gs pos="72890">
                <a:srgbClr val="AABFE3"/>
              </a:gs>
              <a:gs pos="71781">
                <a:srgbClr val="A8BDE2"/>
              </a:gs>
              <a:gs pos="100000">
                <a:srgbClr val="A4BAE0"/>
              </a:gs>
              <a:gs pos="56250">
                <a:srgbClr val="8CA6D1"/>
              </a:gs>
              <a:gs pos="38500">
                <a:srgbClr val="6D8BBE"/>
              </a:gs>
              <a:gs pos="3000">
                <a:schemeClr val="accent1">
                  <a:lumMod val="7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3000000" scaled="0"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266700" dist="190500" dir="5400000" algn="ctr" rotWithShape="0">
              <a:srgbClr val="000000">
                <a:alpha val="3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5DFD40-248F-73AE-C686-55839349B006}"/>
              </a:ext>
            </a:extLst>
          </p:cNvPr>
          <p:cNvSpPr txBox="1"/>
          <p:nvPr/>
        </p:nvSpPr>
        <p:spPr>
          <a:xfrm>
            <a:off x="1830420" y="9975"/>
            <a:ext cx="85311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IC Training Center Vietnam</a:t>
            </a:r>
            <a:endParaRPr lang="en-US" sz="2400">
              <a:latin typeface="-apple-system"/>
            </a:endParaRPr>
          </a:p>
          <a:p>
            <a:pPr algn="ctr"/>
            <a:r>
              <a:rPr lang="en-US" sz="2400"/>
              <a:t>Fundamentals of Digital IC Design: RTL Design and Verification</a:t>
            </a:r>
          </a:p>
        </p:txBody>
      </p:sp>
      <p:pic>
        <p:nvPicPr>
          <p:cNvPr id="9" name="Picture 2" descr="Trung Tâm Đào Tạo Thiết Kế Vi Mạch ICTC">
            <a:extLst>
              <a:ext uri="{FF2B5EF4-FFF2-40B4-BE49-F238E27FC236}">
                <a16:creationId xmlns:a16="http://schemas.microsoft.com/office/drawing/2014/main" id="{3ECB684E-170F-6BBC-384E-714BB9A1DC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36" b="5603"/>
          <a:stretch/>
        </p:blipFill>
        <p:spPr bwMode="auto">
          <a:xfrm>
            <a:off x="3720827" y="906487"/>
            <a:ext cx="4750340" cy="1732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1BBBF9-0AF5-C5B4-DAA2-1E087628FE7A}"/>
              </a:ext>
            </a:extLst>
          </p:cNvPr>
          <p:cNvSpPr txBox="1"/>
          <p:nvPr/>
        </p:nvSpPr>
        <p:spPr>
          <a:xfrm>
            <a:off x="1830419" y="2734196"/>
            <a:ext cx="85311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/>
              <a:t>Final Project</a:t>
            </a:r>
            <a:br>
              <a:rPr lang="en-US" sz="2200" b="1"/>
            </a:br>
            <a:r>
              <a:rPr lang="en-US" sz="2200" b="1"/>
              <a:t>RTL Design and Verification of Timer IP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2898C6-F2E0-3CD6-86EE-A6EEDDF256D9}"/>
              </a:ext>
            </a:extLst>
          </p:cNvPr>
          <p:cNvSpPr txBox="1"/>
          <p:nvPr/>
        </p:nvSpPr>
        <p:spPr>
          <a:xfrm>
            <a:off x="1830419" y="3693512"/>
            <a:ext cx="8531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Class: IC11 – Student: Phạm Duy Quang</a:t>
            </a:r>
          </a:p>
        </p:txBody>
      </p:sp>
    </p:spTree>
    <p:extLst>
      <p:ext uri="{BB962C8B-B14F-4D97-AF65-F5344CB8AC3E}">
        <p14:creationId xmlns:p14="http://schemas.microsoft.com/office/powerpoint/2010/main" val="1663409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6600056" y="468740"/>
            <a:ext cx="49320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schemeClr val="bg1"/>
                </a:solidFill>
                <a:latin typeface="+mj-lt"/>
                <a:ea typeface="맑은 고딕" pitchFamily="50" charset="-127"/>
              </a:rPr>
              <a:t>CONTENTS</a:t>
            </a:r>
            <a:endParaRPr lang="ko-KR" altLang="en-US" sz="3000" b="1" dirty="0">
              <a:solidFill>
                <a:schemeClr val="bg1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34" name="Text Box 5"/>
          <p:cNvSpPr txBox="1">
            <a:spLocks noChangeArrowheads="1"/>
          </p:cNvSpPr>
          <p:nvPr/>
        </p:nvSpPr>
        <p:spPr bwMode="auto">
          <a:xfrm>
            <a:off x="8046500" y="2325711"/>
            <a:ext cx="29527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맑은 고딕" pitchFamily="50" charset="-127"/>
              </a:rPr>
              <a:t>Design Specification</a:t>
            </a:r>
            <a:endParaRPr lang="en-US" altLang="ko-KR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맑은 고딕" pitchFamily="50" charset="-127"/>
            </a:endParaRPr>
          </a:p>
        </p:txBody>
      </p:sp>
      <p:sp>
        <p:nvSpPr>
          <p:cNvPr id="51" name="TextBox 13"/>
          <p:cNvSpPr txBox="1">
            <a:spLocks noChangeArrowheads="1"/>
          </p:cNvSpPr>
          <p:nvPr/>
        </p:nvSpPr>
        <p:spPr bwMode="auto">
          <a:xfrm>
            <a:off x="7150454" y="2264157"/>
            <a:ext cx="60144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맑은 고딕" pitchFamily="50" charset="-127"/>
              </a:rPr>
              <a:t>01</a:t>
            </a:r>
            <a:endParaRPr lang="ko-KR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맑은 고딕" pitchFamily="50" charset="-127"/>
            </a:endParaRPr>
          </a:p>
        </p:txBody>
      </p:sp>
      <p:cxnSp>
        <p:nvCxnSpPr>
          <p:cNvPr id="30" name="직선 연결선 2"/>
          <p:cNvCxnSpPr/>
          <p:nvPr/>
        </p:nvCxnSpPr>
        <p:spPr>
          <a:xfrm>
            <a:off x="7902484" y="2347073"/>
            <a:ext cx="0" cy="501859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5">
            <a:extLst>
              <a:ext uri="{FF2B5EF4-FFF2-40B4-BE49-F238E27FC236}">
                <a16:creationId xmlns:a16="http://schemas.microsoft.com/office/drawing/2014/main" id="{21718D95-E335-F7B2-E87B-54F2F1CF0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6500" y="3332556"/>
            <a:ext cx="29527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맑은 고딕" pitchFamily="50" charset="-127"/>
              </a:rPr>
              <a:t>RTL Design</a:t>
            </a:r>
            <a:endParaRPr lang="en-US" altLang="ko-KR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맑은 고딕" pitchFamily="50" charset="-127"/>
            </a:endParaRPr>
          </a:p>
        </p:txBody>
      </p:sp>
      <p:sp>
        <p:nvSpPr>
          <p:cNvPr id="6" name="TextBox 13">
            <a:extLst>
              <a:ext uri="{FF2B5EF4-FFF2-40B4-BE49-F238E27FC236}">
                <a16:creationId xmlns:a16="http://schemas.microsoft.com/office/drawing/2014/main" id="{9DA3F514-D6FD-BA6A-191B-EAE04B025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0454" y="3271002"/>
            <a:ext cx="60144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맑은 고딕" pitchFamily="50" charset="-127"/>
              </a:rPr>
              <a:t>02</a:t>
            </a:r>
            <a:endParaRPr lang="ko-KR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맑은 고딕" pitchFamily="50" charset="-127"/>
            </a:endParaRPr>
          </a:p>
        </p:txBody>
      </p:sp>
      <p:cxnSp>
        <p:nvCxnSpPr>
          <p:cNvPr id="7" name="직선 연결선 2">
            <a:extLst>
              <a:ext uri="{FF2B5EF4-FFF2-40B4-BE49-F238E27FC236}">
                <a16:creationId xmlns:a16="http://schemas.microsoft.com/office/drawing/2014/main" id="{DD3545DC-9A15-718B-8FAF-4723FBB90017}"/>
              </a:ext>
            </a:extLst>
          </p:cNvPr>
          <p:cNvCxnSpPr/>
          <p:nvPr/>
        </p:nvCxnSpPr>
        <p:spPr>
          <a:xfrm>
            <a:off x="7902484" y="3353918"/>
            <a:ext cx="0" cy="501859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Box 5">
            <a:extLst>
              <a:ext uri="{FF2B5EF4-FFF2-40B4-BE49-F238E27FC236}">
                <a16:creationId xmlns:a16="http://schemas.microsoft.com/office/drawing/2014/main" id="{DE5E2265-C296-C2B8-B9D4-DF3505EE8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6500" y="4400957"/>
            <a:ext cx="29527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맑은 고딕" pitchFamily="50" charset="-127"/>
              </a:rPr>
              <a:t>Design Verification</a:t>
            </a:r>
            <a:endParaRPr lang="en-US" altLang="ko-KR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맑은 고딕" pitchFamily="50" charset="-127"/>
            </a:endParaRP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63E66844-19BB-3963-C6F3-6910EAA09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0454" y="4339403"/>
            <a:ext cx="60144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맑은 고딕" pitchFamily="50" charset="-127"/>
              </a:rPr>
              <a:t>03</a:t>
            </a:r>
            <a:endParaRPr lang="ko-KR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맑은 고딕" pitchFamily="50" charset="-127"/>
            </a:endParaRPr>
          </a:p>
        </p:txBody>
      </p:sp>
      <p:cxnSp>
        <p:nvCxnSpPr>
          <p:cNvPr id="10" name="직선 연결선 2">
            <a:extLst>
              <a:ext uri="{FF2B5EF4-FFF2-40B4-BE49-F238E27FC236}">
                <a16:creationId xmlns:a16="http://schemas.microsoft.com/office/drawing/2014/main" id="{A781DC18-DB4D-A95A-2503-42AAF22BF4C6}"/>
              </a:ext>
            </a:extLst>
          </p:cNvPr>
          <p:cNvCxnSpPr/>
          <p:nvPr/>
        </p:nvCxnSpPr>
        <p:spPr>
          <a:xfrm>
            <a:off x="7902484" y="4422319"/>
            <a:ext cx="0" cy="501859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5">
            <a:extLst>
              <a:ext uri="{FF2B5EF4-FFF2-40B4-BE49-F238E27FC236}">
                <a16:creationId xmlns:a16="http://schemas.microsoft.com/office/drawing/2014/main" id="{4C77BB82-E9AC-B459-F619-2C87AD9B5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6500" y="5445224"/>
            <a:ext cx="29527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맑은 고딕" pitchFamily="50" charset="-127"/>
              </a:rPr>
              <a:t>Simulation Result</a:t>
            </a:r>
            <a:endParaRPr lang="en-US" altLang="ko-KR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맑은 고딕" pitchFamily="50" charset="-127"/>
            </a:endParaRP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55CE4AEE-D2CC-29E0-7A88-EFCF948F3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0454" y="5383670"/>
            <a:ext cx="60144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맑은 고딕" pitchFamily="50" charset="-127"/>
              </a:rPr>
              <a:t>04</a:t>
            </a:r>
            <a:endParaRPr lang="ko-KR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맑은 고딕" pitchFamily="50" charset="-127"/>
            </a:endParaRPr>
          </a:p>
        </p:txBody>
      </p:sp>
      <p:cxnSp>
        <p:nvCxnSpPr>
          <p:cNvPr id="13" name="직선 연결선 2">
            <a:extLst>
              <a:ext uri="{FF2B5EF4-FFF2-40B4-BE49-F238E27FC236}">
                <a16:creationId xmlns:a16="http://schemas.microsoft.com/office/drawing/2014/main" id="{AC21B690-884C-97F7-3312-692ECCD7DE42}"/>
              </a:ext>
            </a:extLst>
          </p:cNvPr>
          <p:cNvCxnSpPr/>
          <p:nvPr/>
        </p:nvCxnSpPr>
        <p:spPr>
          <a:xfrm>
            <a:off x="7902484" y="5466586"/>
            <a:ext cx="0" cy="501859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FF675-F57F-F163-787C-384B7E0CA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A367C3-D2EE-C4BC-4790-0469289B7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3" y="188640"/>
            <a:ext cx="8586972" cy="796908"/>
          </a:xfrm>
        </p:spPr>
        <p:txBody>
          <a:bodyPr/>
          <a:lstStyle/>
          <a:p>
            <a:r>
              <a:rPr lang="en-US" altLang="ko-KR">
                <a:latin typeface="+mj-lt"/>
              </a:rPr>
              <a:t>1.1. Timer Features </a:t>
            </a:r>
            <a:endParaRPr lang="ko-KR" altLang="en-US" dirty="0">
              <a:latin typeface="+mj-lt"/>
            </a:endParaRPr>
          </a:p>
        </p:txBody>
      </p:sp>
      <p:sp>
        <p:nvSpPr>
          <p:cNvPr id="37" name="내용 개체 틀 36">
            <a:extLst>
              <a:ext uri="{FF2B5EF4-FFF2-40B4-BE49-F238E27FC236}">
                <a16:creationId xmlns:a16="http://schemas.microsoft.com/office/drawing/2014/main" id="{FA3E6935-420E-3939-C9BD-FA4AC744E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552" y="1415041"/>
            <a:ext cx="11878895" cy="5256584"/>
          </a:xfrm>
        </p:spPr>
        <p:txBody>
          <a:bodyPr>
            <a:noAutofit/>
          </a:bodyPr>
          <a:lstStyle/>
          <a:p>
            <a:pPr algn="just">
              <a:lnSpc>
                <a:spcPct val="114000"/>
              </a:lnSpc>
              <a:spcBef>
                <a:spcPts val="0"/>
              </a:spcBef>
            </a:pPr>
            <a:r>
              <a:rPr lang="en-US" sz="2300">
                <a:solidFill>
                  <a:schemeClr val="tx1"/>
                </a:solidFill>
                <a:latin typeface="+mn-lt"/>
              </a:rPr>
              <a:t>The timer has following features: 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300">
                <a:solidFill>
                  <a:schemeClr val="tx1"/>
                </a:solidFill>
                <a:latin typeface="+mn-lt"/>
              </a:rPr>
              <a:t>64-bit count-up. 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300">
                <a:solidFill>
                  <a:schemeClr val="tx1"/>
                </a:solidFill>
                <a:latin typeface="+mn-lt"/>
              </a:rPr>
              <a:t>Address space: 4KB (0x4000_1000 – 0x4000_1FFF).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300">
                <a:solidFill>
                  <a:schemeClr val="tx1"/>
                </a:solidFill>
                <a:latin typeface="+mn-lt"/>
              </a:rPr>
              <a:t>Register set is configured via APB bus (IP is APB slave). 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300">
                <a:solidFill>
                  <a:schemeClr val="tx1"/>
                </a:solidFill>
                <a:latin typeface="+mn-lt"/>
              </a:rPr>
              <a:t>Support wait state (1 cycle) and error handling.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300">
                <a:solidFill>
                  <a:schemeClr val="tx1"/>
                </a:solidFill>
                <a:latin typeface="+mn-lt"/>
              </a:rPr>
              <a:t>Support byte access. 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300">
                <a:solidFill>
                  <a:schemeClr val="tx1"/>
                </a:solidFill>
                <a:latin typeface="+mn-lt"/>
              </a:rPr>
              <a:t>Support halt (stop) in debug mode.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300">
                <a:solidFill>
                  <a:schemeClr val="tx1"/>
                </a:solidFill>
                <a:latin typeface="+mn-lt"/>
              </a:rPr>
              <a:t>System clock frequency is 200 MHz. Timer uses active low async reset. 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300">
                <a:solidFill>
                  <a:schemeClr val="tx1"/>
                </a:solidFill>
                <a:latin typeface="+mn-lt"/>
              </a:rPr>
              <a:t>Counter can be counted based on system clock or divided up to 256. 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300">
                <a:solidFill>
                  <a:schemeClr val="tx1"/>
                </a:solidFill>
                <a:latin typeface="+mn-lt"/>
              </a:rPr>
              <a:t>Support timer interrupt (can be enabled or disabled).</a:t>
            </a:r>
            <a:endParaRPr lang="ko-KR" altLang="en-US" sz="2300" i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14496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B5B94-80A8-3BBB-A37B-195058325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A789A6-84A8-E87B-0949-F92DD8E18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3" y="188640"/>
            <a:ext cx="8586972" cy="796908"/>
          </a:xfrm>
        </p:spPr>
        <p:txBody>
          <a:bodyPr/>
          <a:lstStyle/>
          <a:p>
            <a:r>
              <a:rPr lang="en-US" altLang="ko-KR">
                <a:latin typeface="+mj-lt"/>
              </a:rPr>
              <a:t>1.2. Detail Functional Description – Counter</a:t>
            </a:r>
            <a:endParaRPr lang="ko-KR" altLang="en-US" dirty="0">
              <a:latin typeface="+mj-lt"/>
            </a:endParaRPr>
          </a:p>
        </p:txBody>
      </p:sp>
      <p:sp>
        <p:nvSpPr>
          <p:cNvPr id="37" name="내용 개체 틀 36">
            <a:extLst>
              <a:ext uri="{FF2B5EF4-FFF2-40B4-BE49-F238E27FC236}">
                <a16:creationId xmlns:a16="http://schemas.microsoft.com/office/drawing/2014/main" id="{A7917C80-9D5B-CE3A-D081-EF834CA6E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552" y="1415041"/>
            <a:ext cx="11878895" cy="5256584"/>
          </a:xfrm>
        </p:spPr>
        <p:txBody>
          <a:bodyPr>
            <a:noAutofit/>
          </a:bodyPr>
          <a:lstStyle/>
          <a:p>
            <a:pPr algn="just" latinLnBrk="0">
              <a:lnSpc>
                <a:spcPct val="114000"/>
              </a:lnSpc>
              <a:spcBef>
                <a:spcPts val="0"/>
              </a:spcBef>
            </a:pPr>
            <a:r>
              <a:rPr lang="en-US" sz="2100" kern="10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The counter specification is describes as following:</a:t>
            </a:r>
          </a:p>
          <a:p>
            <a:pPr marL="342900" lvl="0" indent="-342900" algn="just" latinLnBrk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"/>
              <a:tabLst>
                <a:tab pos="457200" algn="l"/>
              </a:tabLst>
            </a:pPr>
            <a:r>
              <a:rPr lang="en-US" sz="2100" kern="10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64-bit count-up. </a:t>
            </a:r>
          </a:p>
          <a:p>
            <a:pPr marL="342900" lvl="0" indent="-342900" algn="just" latinLnBrk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"/>
              <a:tabLst>
                <a:tab pos="457200" algn="l"/>
              </a:tabLst>
            </a:pPr>
            <a:r>
              <a:rPr lang="en-US" sz="2100" kern="10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Counting mode: </a:t>
            </a:r>
          </a:p>
          <a:p>
            <a:pPr marL="742950" lvl="1" indent="-285750" algn="just" latinLnBrk="0">
              <a:lnSpc>
                <a:spcPct val="114000"/>
              </a:lnSpc>
              <a:spcBef>
                <a:spcPts val="0"/>
              </a:spcBef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100" kern="10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Default mode: counter’s speed is same as system clock. </a:t>
            </a:r>
          </a:p>
          <a:p>
            <a:pPr marL="742950" lvl="1" indent="-285750" algn="just" latinLnBrk="0">
              <a:lnSpc>
                <a:spcPct val="114000"/>
              </a:lnSpc>
              <a:spcBef>
                <a:spcPts val="0"/>
              </a:spcBef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100" kern="10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Control mode: when enabled by writing 1 to </a:t>
            </a:r>
            <a:r>
              <a:rPr lang="en-US" sz="2100" i="1" kern="10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TCR.div_en</a:t>
            </a:r>
            <a:r>
              <a:rPr lang="en-US" sz="2100" kern="10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bit, the counter's speed is determined by the divisor value set in </a:t>
            </a:r>
            <a:r>
              <a:rPr lang="en-US" sz="2100" i="1" kern="10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TCR.div_val</a:t>
            </a:r>
            <a:r>
              <a:rPr lang="en-US" sz="2100" kern="10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 latinLnBrk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"/>
              <a:tabLst>
                <a:tab pos="457200" algn="l"/>
              </a:tabLst>
            </a:pPr>
            <a:r>
              <a:rPr lang="en-US" sz="2100" kern="10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Counter continues counting when interrupts occurs. </a:t>
            </a:r>
          </a:p>
          <a:p>
            <a:pPr marL="342900" lvl="0" indent="-342900" algn="just" latinLnBrk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"/>
              <a:tabLst>
                <a:tab pos="457200" algn="l"/>
              </a:tabLst>
            </a:pPr>
            <a:r>
              <a:rPr lang="en-US" sz="2100" kern="10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Counter continues counting when overflow occurs. </a:t>
            </a:r>
          </a:p>
          <a:p>
            <a:pPr marL="342900" lvl="0" indent="-342900" algn="just" latinLnBrk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"/>
              <a:tabLst>
                <a:tab pos="457200" algn="l"/>
              </a:tabLst>
            </a:pPr>
            <a:r>
              <a:rPr lang="en-US" sz="2100" kern="10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Support halted mode. </a:t>
            </a:r>
          </a:p>
          <a:p>
            <a:pPr marL="342900" lvl="0" indent="-342900" algn="just" latinLnBrk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"/>
              <a:tabLst>
                <a:tab pos="457200" algn="l"/>
              </a:tabLst>
            </a:pPr>
            <a:r>
              <a:rPr lang="en-US" sz="2100" kern="10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When </a:t>
            </a:r>
            <a:r>
              <a:rPr lang="en-US" sz="2100" i="1" kern="10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timer_en</a:t>
            </a:r>
            <a:r>
              <a:rPr lang="en-US" sz="2100" kern="10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changes from High to Low, the counter is cleared to its initial value. When </a:t>
            </a:r>
            <a:r>
              <a:rPr lang="en-US" sz="2100" i="1" kern="10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timer_en</a:t>
            </a:r>
            <a:r>
              <a:rPr lang="en-US" sz="2100" kern="10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100">
                <a:solidFill>
                  <a:schemeClr val="tx1"/>
                </a:solidFill>
                <a:latin typeface="+mn-lt"/>
              </a:rPr>
              <a:t>transitions back from Low to High again</a:t>
            </a:r>
            <a:r>
              <a:rPr lang="en-US" sz="2100" kern="10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, timer can work normally. </a:t>
            </a:r>
          </a:p>
          <a:p>
            <a:pPr marL="342900" lvl="0" indent="-342900" algn="just" latinLnBrk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"/>
              <a:tabLst>
                <a:tab pos="457200" algn="l"/>
              </a:tabLst>
            </a:pPr>
            <a:r>
              <a:rPr lang="en-US" sz="2100" kern="10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Note: the </a:t>
            </a:r>
            <a:r>
              <a:rPr lang="en-US" sz="2100" i="1" kern="10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div_en</a:t>
            </a:r>
            <a:r>
              <a:rPr lang="en-US" sz="2100" kern="10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2100" i="1" kern="10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div_val</a:t>
            </a:r>
            <a:r>
              <a:rPr lang="en-US" sz="2100" kern="10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is not related to frequency divisor (clock divider). Those settings only control the counter when to count.</a:t>
            </a:r>
          </a:p>
        </p:txBody>
      </p:sp>
    </p:spTree>
    <p:extLst>
      <p:ext uri="{BB962C8B-B14F-4D97-AF65-F5344CB8AC3E}">
        <p14:creationId xmlns:p14="http://schemas.microsoft.com/office/powerpoint/2010/main" val="17650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91644-AA8B-EAD7-29E1-1CB68F772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853F9-62BC-67D8-FF34-DF862AC93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3" y="188640"/>
            <a:ext cx="8586972" cy="796908"/>
          </a:xfrm>
        </p:spPr>
        <p:txBody>
          <a:bodyPr/>
          <a:lstStyle/>
          <a:p>
            <a:r>
              <a:rPr lang="en-US" altLang="ko-KR">
                <a:latin typeface="+mj-lt"/>
              </a:rPr>
              <a:t>1.2. Detail Functional Description – </a:t>
            </a:r>
            <a:r>
              <a:rPr lang="en-US" altLang="ko-KR"/>
              <a:t>Halted</a:t>
            </a:r>
            <a:endParaRPr lang="ko-KR" altLang="en-US" dirty="0">
              <a:latin typeface="+mj-lt"/>
            </a:endParaRPr>
          </a:p>
        </p:txBody>
      </p:sp>
      <p:sp>
        <p:nvSpPr>
          <p:cNvPr id="37" name="내용 개체 틀 36">
            <a:extLst>
              <a:ext uri="{FF2B5EF4-FFF2-40B4-BE49-F238E27FC236}">
                <a16:creationId xmlns:a16="http://schemas.microsoft.com/office/drawing/2014/main" id="{E7DD4BD4-CFAD-63EC-A0F3-05A0D898E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552" y="1415041"/>
            <a:ext cx="11878895" cy="5256584"/>
          </a:xfrm>
        </p:spPr>
        <p:txBody>
          <a:bodyPr>
            <a:noAutofit/>
          </a:bodyPr>
          <a:lstStyle/>
          <a:p>
            <a:pPr algn="just" latinLnBrk="0">
              <a:lnSpc>
                <a:spcPct val="114000"/>
              </a:lnSpc>
              <a:spcBef>
                <a:spcPts val="0"/>
              </a:spcBef>
            </a:pPr>
            <a:r>
              <a:rPr lang="en-US" sz="1700" kern="10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Halt mode:</a:t>
            </a:r>
          </a:p>
          <a:p>
            <a:pPr algn="just" latinLnBrk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700">
                <a:solidFill>
                  <a:schemeClr val="tx1"/>
                </a:solidFill>
                <a:latin typeface="+mn-lt"/>
              </a:rPr>
              <a:t>Counter can be halted (stopped) in debug mode when both below conditions occur: </a:t>
            </a:r>
          </a:p>
          <a:p>
            <a:pPr lvl="1" algn="just" latinLnBrk="0">
              <a:lnSpc>
                <a:spcPct val="114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700">
                <a:solidFill>
                  <a:schemeClr val="tx1"/>
                </a:solidFill>
                <a:latin typeface="+mn-lt"/>
              </a:rPr>
              <a:t>Input </a:t>
            </a:r>
            <a:r>
              <a:rPr lang="en-US" sz="1700" i="1">
                <a:solidFill>
                  <a:schemeClr val="tx1"/>
                </a:solidFill>
                <a:latin typeface="+mn-lt"/>
              </a:rPr>
              <a:t>debug_mode</a:t>
            </a:r>
            <a:r>
              <a:rPr lang="en-US" sz="1700">
                <a:solidFill>
                  <a:schemeClr val="tx1"/>
                </a:solidFill>
                <a:latin typeface="+mn-lt"/>
              </a:rPr>
              <a:t> signal is High.</a:t>
            </a:r>
          </a:p>
          <a:p>
            <a:pPr lvl="1" algn="just" latinLnBrk="0">
              <a:lnSpc>
                <a:spcPct val="114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700" i="1">
                <a:solidFill>
                  <a:schemeClr val="tx1"/>
                </a:solidFill>
                <a:latin typeface="+mn-lt"/>
              </a:rPr>
              <a:t>THCR.halt_req</a:t>
            </a:r>
            <a:r>
              <a:rPr lang="en-US" sz="1700">
                <a:solidFill>
                  <a:schemeClr val="tx1"/>
                </a:solidFill>
                <a:latin typeface="+mn-lt"/>
              </a:rPr>
              <a:t> is 1. </a:t>
            </a:r>
          </a:p>
          <a:p>
            <a:pPr algn="just" latinLnBrk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700" i="1">
                <a:solidFill>
                  <a:schemeClr val="tx1"/>
                </a:solidFill>
                <a:latin typeface="+mn-lt"/>
              </a:rPr>
              <a:t>THCSR.halt_ack</a:t>
            </a:r>
            <a:r>
              <a:rPr lang="en-US" sz="1700">
                <a:solidFill>
                  <a:schemeClr val="tx1"/>
                </a:solidFill>
                <a:latin typeface="+mn-lt"/>
              </a:rPr>
              <a:t> is 1 after a halt request indicates that the request is accepted. </a:t>
            </a:r>
          </a:p>
          <a:p>
            <a:pPr algn="just" latinLnBrk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700">
                <a:solidFill>
                  <a:schemeClr val="tx1"/>
                </a:solidFill>
                <a:latin typeface="+mn-lt"/>
              </a:rPr>
              <a:t>After halted, counter can be resumed to count normally when clearing the halt request to 0. </a:t>
            </a:r>
          </a:p>
          <a:p>
            <a:pPr algn="just" latinLnBrk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700">
                <a:solidFill>
                  <a:schemeClr val="tx1"/>
                </a:solidFill>
                <a:latin typeface="+mn-lt"/>
              </a:rPr>
              <a:t>The period of each counting number needs to be the same when halt and not halt as described in the below waveform example (</a:t>
            </a:r>
            <a:r>
              <a:rPr lang="en-US" sz="1700" i="1">
                <a:solidFill>
                  <a:schemeClr val="tx1"/>
                </a:solidFill>
                <a:latin typeface="+mn-lt"/>
              </a:rPr>
              <a:t>div_val</a:t>
            </a:r>
            <a:r>
              <a:rPr lang="en-US" sz="1700">
                <a:solidFill>
                  <a:schemeClr val="tx1"/>
                </a:solidFill>
                <a:latin typeface="+mn-lt"/>
              </a:rPr>
              <a:t> = 2). </a:t>
            </a:r>
            <a:endParaRPr lang="en-US" sz="1700" kern="100">
              <a:solidFill>
                <a:schemeClr val="tx1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DA620F-C332-8B16-EA50-576B1A6E30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2" t="4769" r="632" b="4631"/>
          <a:stretch/>
        </p:blipFill>
        <p:spPr>
          <a:xfrm>
            <a:off x="156552" y="3861049"/>
            <a:ext cx="11878895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042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2741F-A4BA-B7AD-8EB3-185786E19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F99A52-536A-02B4-43DD-75C4680FD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3" y="188640"/>
            <a:ext cx="8586972" cy="796908"/>
          </a:xfrm>
        </p:spPr>
        <p:txBody>
          <a:bodyPr/>
          <a:lstStyle/>
          <a:p>
            <a:r>
              <a:rPr lang="en-US" altLang="ko-KR">
                <a:latin typeface="+mj-lt"/>
              </a:rPr>
              <a:t>1.2. Detail Functional Description – Timer Interrupt</a:t>
            </a:r>
            <a:endParaRPr lang="ko-KR" altLang="en-US" dirty="0">
              <a:latin typeface="+mj-lt"/>
            </a:endParaRPr>
          </a:p>
        </p:txBody>
      </p:sp>
      <p:sp>
        <p:nvSpPr>
          <p:cNvPr id="37" name="내용 개체 틀 36">
            <a:extLst>
              <a:ext uri="{FF2B5EF4-FFF2-40B4-BE49-F238E27FC236}">
                <a16:creationId xmlns:a16="http://schemas.microsoft.com/office/drawing/2014/main" id="{699D467A-2871-C0DB-8D0B-02152FAC1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552" y="1415041"/>
            <a:ext cx="11878895" cy="5256584"/>
          </a:xfrm>
        </p:spPr>
        <p:txBody>
          <a:bodyPr>
            <a:noAutofit/>
          </a:bodyPr>
          <a:lstStyle/>
          <a:p>
            <a:pPr algn="just" latinLnBrk="0">
              <a:lnSpc>
                <a:spcPct val="114000"/>
              </a:lnSpc>
              <a:spcBef>
                <a:spcPts val="0"/>
              </a:spcBef>
            </a:pPr>
            <a:r>
              <a:rPr lang="en-US" kern="10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Timer interrupt:</a:t>
            </a:r>
          </a:p>
          <a:p>
            <a:pPr algn="just" latinLnBrk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>
                <a:solidFill>
                  <a:schemeClr val="tx1"/>
                </a:solidFill>
                <a:latin typeface="+mn-lt"/>
              </a:rPr>
              <a:t>Timer interrupt (</a:t>
            </a:r>
            <a:r>
              <a:rPr lang="en-US" i="1">
                <a:solidFill>
                  <a:schemeClr val="tx1"/>
                </a:solidFill>
                <a:latin typeface="+mn-lt"/>
              </a:rPr>
              <a:t>tim_int</a:t>
            </a:r>
            <a:r>
              <a:rPr lang="en-US">
                <a:solidFill>
                  <a:schemeClr val="tx1"/>
                </a:solidFill>
                <a:latin typeface="+mn-lt"/>
              </a:rPr>
              <a:t>) is asserted (set) when interrupt is enabled and counter’s value matches (equal) the compare value. </a:t>
            </a:r>
          </a:p>
          <a:p>
            <a:pPr algn="just" latinLnBrk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>
                <a:solidFill>
                  <a:schemeClr val="tx1"/>
                </a:solidFill>
                <a:latin typeface="+mn-lt"/>
              </a:rPr>
              <a:t>Once asserted, the timer interrupt (</a:t>
            </a:r>
            <a:r>
              <a:rPr lang="en-US" i="1">
                <a:solidFill>
                  <a:schemeClr val="tx1"/>
                </a:solidFill>
                <a:latin typeface="+mn-lt"/>
              </a:rPr>
              <a:t>tim_int</a:t>
            </a:r>
            <a:r>
              <a:rPr lang="en-US">
                <a:solidFill>
                  <a:schemeClr val="tx1"/>
                </a:solidFill>
                <a:latin typeface="+mn-lt"/>
              </a:rPr>
              <a:t>) remains unchange until it is cleared by writing 1 to </a:t>
            </a:r>
            <a:r>
              <a:rPr lang="en-US" i="1">
                <a:solidFill>
                  <a:schemeClr val="tx1"/>
                </a:solidFill>
                <a:latin typeface="+mn-lt"/>
              </a:rPr>
              <a:t>TISR.int_st</a:t>
            </a:r>
            <a:r>
              <a:rPr lang="en-US">
                <a:solidFill>
                  <a:schemeClr val="tx1"/>
                </a:solidFill>
                <a:latin typeface="+mn-lt"/>
              </a:rPr>
              <a:t> bit or the interrupt is disabled.</a:t>
            </a:r>
          </a:p>
        </p:txBody>
      </p:sp>
    </p:spTree>
    <p:extLst>
      <p:ext uri="{BB962C8B-B14F-4D97-AF65-F5344CB8AC3E}">
        <p14:creationId xmlns:p14="http://schemas.microsoft.com/office/powerpoint/2010/main" val="357886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E2DA5-C777-74DC-0002-A2FB02ECE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FEB04C-7BA0-FA40-DE60-A2515F320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3" y="188640"/>
            <a:ext cx="8586972" cy="796908"/>
          </a:xfrm>
        </p:spPr>
        <p:txBody>
          <a:bodyPr/>
          <a:lstStyle/>
          <a:p>
            <a:r>
              <a:rPr lang="en-US" altLang="ko-KR">
                <a:latin typeface="+mj-lt"/>
              </a:rPr>
              <a:t>1.2. Detail Functional Description – Counting Mode</a:t>
            </a:r>
            <a:endParaRPr lang="ko-KR" altLang="en-US" dirty="0">
              <a:latin typeface="+mj-lt"/>
            </a:endParaRPr>
          </a:p>
        </p:txBody>
      </p:sp>
      <p:sp>
        <p:nvSpPr>
          <p:cNvPr id="37" name="내용 개체 틀 36">
            <a:extLst>
              <a:ext uri="{FF2B5EF4-FFF2-40B4-BE49-F238E27FC236}">
                <a16:creationId xmlns:a16="http://schemas.microsoft.com/office/drawing/2014/main" id="{A02CE875-71E6-FA04-95E6-533A05A58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552" y="1415041"/>
            <a:ext cx="11878895" cy="5256584"/>
          </a:xfrm>
        </p:spPr>
        <p:txBody>
          <a:bodyPr>
            <a:noAutofit/>
          </a:bodyPr>
          <a:lstStyle/>
          <a:p>
            <a:pPr algn="just" latinLnBrk="0">
              <a:lnSpc>
                <a:spcPct val="114000"/>
              </a:lnSpc>
              <a:spcBef>
                <a:spcPts val="0"/>
              </a:spcBef>
            </a:pPr>
            <a:r>
              <a:rPr lang="en-US" sz="1800">
                <a:solidFill>
                  <a:schemeClr val="tx1"/>
                </a:solidFill>
                <a:latin typeface="+mn-lt"/>
              </a:rPr>
              <a:t>Counting mode</a:t>
            </a:r>
            <a:r>
              <a:rPr lang="en-US" sz="1800" kern="10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algn="just" latinLnBrk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>
                <a:solidFill>
                  <a:schemeClr val="tx1"/>
                </a:solidFill>
                <a:latin typeface="+mn-lt"/>
              </a:rPr>
              <a:t>In default mode, counting speed depend on system clock (same as </a:t>
            </a:r>
            <a:r>
              <a:rPr lang="en-US" sz="1800" i="1">
                <a:solidFill>
                  <a:schemeClr val="tx1"/>
                </a:solidFill>
                <a:latin typeface="+mn-lt"/>
              </a:rPr>
              <a:t>div_val</a:t>
            </a:r>
            <a:r>
              <a:rPr lang="en-US" sz="1800">
                <a:solidFill>
                  <a:schemeClr val="tx1"/>
                </a:solidFill>
                <a:latin typeface="+mn-lt"/>
              </a:rPr>
              <a:t> = 0 case as below waveform).  </a:t>
            </a:r>
          </a:p>
          <a:p>
            <a:pPr algn="just" latinLnBrk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>
                <a:solidFill>
                  <a:schemeClr val="tx1"/>
                </a:solidFill>
                <a:latin typeface="+mn-lt"/>
              </a:rPr>
              <a:t>The counting’s speed can be controlled by register settings by setting into </a:t>
            </a:r>
            <a:r>
              <a:rPr lang="en-US" sz="1800" i="1">
                <a:solidFill>
                  <a:schemeClr val="tx1"/>
                </a:solidFill>
                <a:latin typeface="+mn-lt"/>
              </a:rPr>
              <a:t>TCR.div_en</a:t>
            </a:r>
            <a:r>
              <a:rPr lang="en-US" sz="1800">
                <a:solidFill>
                  <a:schemeClr val="tx1"/>
                </a:solidFill>
                <a:latin typeface="+mn-lt"/>
              </a:rPr>
              <a:t> and </a:t>
            </a:r>
            <a:r>
              <a:rPr lang="en-US" sz="1800" i="1">
                <a:solidFill>
                  <a:schemeClr val="tx1"/>
                </a:solidFill>
                <a:latin typeface="+mn-lt"/>
              </a:rPr>
              <a:t>TCR.div_val [3:0]</a:t>
            </a:r>
            <a:r>
              <a:rPr lang="en-US" sz="1800">
                <a:solidFill>
                  <a:schemeClr val="tx1"/>
                </a:solidFill>
                <a:latin typeface="+mn-lt"/>
              </a:rPr>
              <a:t> as the register specification.</a:t>
            </a:r>
          </a:p>
          <a:p>
            <a:pPr algn="just" latinLnBrk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 i="1">
                <a:solidFill>
                  <a:schemeClr val="tx1"/>
                </a:solidFill>
                <a:latin typeface="+mn-lt"/>
              </a:rPr>
              <a:t>div_en</a:t>
            </a:r>
            <a:r>
              <a:rPr lang="en-US" sz="1800">
                <a:solidFill>
                  <a:schemeClr val="tx1"/>
                </a:solidFill>
                <a:latin typeface="+mn-lt"/>
              </a:rPr>
              <a:t> and </a:t>
            </a:r>
            <a:r>
              <a:rPr lang="en-US" sz="1800" i="1">
                <a:solidFill>
                  <a:schemeClr val="tx1"/>
                </a:solidFill>
                <a:latin typeface="+mn-lt"/>
              </a:rPr>
              <a:t>div_val</a:t>
            </a:r>
            <a:r>
              <a:rPr lang="en-US" sz="1800">
                <a:solidFill>
                  <a:schemeClr val="tx1"/>
                </a:solidFill>
                <a:latin typeface="+mn-lt"/>
              </a:rPr>
              <a:t> cannot be changed during </a:t>
            </a:r>
            <a:r>
              <a:rPr lang="en-US" sz="1800" i="1">
                <a:solidFill>
                  <a:schemeClr val="tx1"/>
                </a:solidFill>
                <a:latin typeface="+mn-lt"/>
              </a:rPr>
              <a:t>timer_en</a:t>
            </a:r>
            <a:r>
              <a:rPr lang="en-US" sz="1800">
                <a:solidFill>
                  <a:schemeClr val="tx1"/>
                </a:solidFill>
                <a:latin typeface="+mn-lt"/>
              </a:rPr>
              <a:t> is High.</a:t>
            </a:r>
          </a:p>
          <a:p>
            <a:pPr algn="just" latinLnBrk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>
                <a:solidFill>
                  <a:schemeClr val="tx1"/>
                </a:solidFill>
                <a:latin typeface="+mn-lt"/>
              </a:rPr>
              <a:t>Not allow to change </a:t>
            </a:r>
            <a:r>
              <a:rPr lang="en-US" sz="1800" i="1">
                <a:solidFill>
                  <a:schemeClr val="tx1"/>
                </a:solidFill>
                <a:latin typeface="+mn-lt"/>
              </a:rPr>
              <a:t>div_en</a:t>
            </a:r>
            <a:r>
              <a:rPr lang="en-US" sz="1800">
                <a:solidFill>
                  <a:schemeClr val="tx1"/>
                </a:solidFill>
                <a:latin typeface="+mn-lt"/>
              </a:rPr>
              <a:t> and </a:t>
            </a:r>
            <a:r>
              <a:rPr lang="en-US" sz="1800" i="1">
                <a:solidFill>
                  <a:schemeClr val="tx1"/>
                </a:solidFill>
                <a:latin typeface="+mn-lt"/>
              </a:rPr>
              <a:t>div_val</a:t>
            </a:r>
            <a:r>
              <a:rPr lang="en-US" sz="1800">
                <a:solidFill>
                  <a:schemeClr val="tx1"/>
                </a:solidFill>
                <a:latin typeface="+mn-lt"/>
              </a:rPr>
              <a:t> while </a:t>
            </a:r>
            <a:r>
              <a:rPr lang="en-US" sz="1800" i="1">
                <a:solidFill>
                  <a:schemeClr val="tx1"/>
                </a:solidFill>
                <a:latin typeface="+mn-lt"/>
              </a:rPr>
              <a:t>timer_en</a:t>
            </a:r>
            <a:r>
              <a:rPr lang="en-US" sz="1800">
                <a:solidFill>
                  <a:schemeClr val="tx1"/>
                </a:solidFill>
                <a:latin typeface="+mn-lt"/>
              </a:rPr>
              <a:t> is High by an error response when user mistakenly accesses. </a:t>
            </a:r>
          </a:p>
          <a:p>
            <a:pPr algn="just" latinLnBrk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>
                <a:solidFill>
                  <a:schemeClr val="tx1"/>
                </a:solidFill>
                <a:latin typeface="+mn-lt"/>
              </a:rPr>
              <a:t>Example waveform of counter in control mode.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4C8F5B-34B1-092C-0368-6D95769C45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02" t="2633" r="1691" b="4607"/>
          <a:stretch/>
        </p:blipFill>
        <p:spPr>
          <a:xfrm>
            <a:off x="1649506" y="3645024"/>
            <a:ext cx="8892986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844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F47BC-1FE3-DB6B-3053-F5C625366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7A3D38-9006-CE0A-4C75-CF1C9A69E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3" y="188640"/>
            <a:ext cx="8586972" cy="796908"/>
          </a:xfrm>
        </p:spPr>
        <p:txBody>
          <a:bodyPr/>
          <a:lstStyle/>
          <a:p>
            <a:r>
              <a:rPr lang="en-US" altLang="ko-KR">
                <a:latin typeface="+mj-lt"/>
              </a:rPr>
              <a:t>1.2. Detail Functional Description – APB slave / Register</a:t>
            </a:r>
            <a:endParaRPr lang="ko-KR" altLang="en-US" dirty="0">
              <a:latin typeface="+mj-lt"/>
            </a:endParaRPr>
          </a:p>
        </p:txBody>
      </p:sp>
      <p:sp>
        <p:nvSpPr>
          <p:cNvPr id="37" name="내용 개체 틀 36">
            <a:extLst>
              <a:ext uri="{FF2B5EF4-FFF2-40B4-BE49-F238E27FC236}">
                <a16:creationId xmlns:a16="http://schemas.microsoft.com/office/drawing/2014/main" id="{DFB5A3BB-3079-95D8-C48C-852DE79FA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552" y="1415041"/>
            <a:ext cx="11878895" cy="5256584"/>
          </a:xfrm>
        </p:spPr>
        <p:txBody>
          <a:bodyPr>
            <a:noAutofit/>
          </a:bodyPr>
          <a:lstStyle/>
          <a:p>
            <a:pPr algn="just" latinLnBrk="0">
              <a:lnSpc>
                <a:spcPct val="114000"/>
              </a:lnSpc>
              <a:spcBef>
                <a:spcPts val="0"/>
              </a:spcBef>
            </a:pPr>
            <a:r>
              <a:rPr lang="en-US" sz="1800">
                <a:solidFill>
                  <a:schemeClr val="tx1"/>
                </a:solidFill>
                <a:latin typeface="+mn-lt"/>
              </a:rPr>
              <a:t>APB slave / Register</a:t>
            </a:r>
            <a:r>
              <a:rPr lang="en-US" sz="1800" kern="10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algn="just" latinLnBrk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>
                <a:solidFill>
                  <a:schemeClr val="tx1"/>
                </a:solidFill>
                <a:latin typeface="+mn-lt"/>
              </a:rPr>
              <a:t>Address space: 4KB (0x4000_1000 – 0x4000_1FFF).  </a:t>
            </a:r>
          </a:p>
          <a:p>
            <a:pPr algn="just" latinLnBrk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>
                <a:solidFill>
                  <a:schemeClr val="tx1"/>
                </a:solidFill>
                <a:latin typeface="+mn-lt"/>
              </a:rPr>
              <a:t>Read/write to reserved area is RAZ/WI (read as zero, write ignored).</a:t>
            </a:r>
          </a:p>
          <a:p>
            <a:pPr algn="just" latinLnBrk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>
                <a:solidFill>
                  <a:schemeClr val="tx1"/>
                </a:solidFill>
                <a:latin typeface="+mn-lt"/>
              </a:rPr>
              <a:t>System clock frequency is 200 MHz.</a:t>
            </a:r>
          </a:p>
          <a:p>
            <a:pPr algn="just" latinLnBrk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>
                <a:solidFill>
                  <a:schemeClr val="tx1"/>
                </a:solidFill>
                <a:latin typeface="+mn-lt"/>
              </a:rPr>
              <a:t>Support byte access: bus can access to individual bytes in the register.</a:t>
            </a:r>
          </a:p>
          <a:p>
            <a:pPr algn="just" latinLnBrk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>
                <a:solidFill>
                  <a:schemeClr val="tx1"/>
                </a:solidFill>
                <a:latin typeface="+mn-lt"/>
              </a:rPr>
              <a:t>Support wait state (1 cycle) to improve the timing.</a:t>
            </a:r>
          </a:p>
          <a:p>
            <a:pPr algn="just" latinLnBrk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>
                <a:solidFill>
                  <a:schemeClr val="tx1"/>
                </a:solidFill>
                <a:latin typeface="+mn-lt"/>
              </a:rPr>
              <a:t>Support error handling for some prohibited access:</a:t>
            </a:r>
          </a:p>
          <a:p>
            <a:pPr lvl="1" algn="just" latinLnBrk="0">
              <a:lnSpc>
                <a:spcPct val="114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>
                <a:solidFill>
                  <a:schemeClr val="tx1"/>
                </a:solidFill>
                <a:latin typeface="+mn-lt"/>
              </a:rPr>
              <a:t>write prohibited value to </a:t>
            </a:r>
            <a:r>
              <a:rPr lang="en-US" i="1">
                <a:solidFill>
                  <a:schemeClr val="tx1"/>
                </a:solidFill>
                <a:latin typeface="+mn-lt"/>
              </a:rPr>
              <a:t>TCR.div_val</a:t>
            </a:r>
            <a:r>
              <a:rPr lang="en-US">
                <a:solidFill>
                  <a:schemeClr val="tx1"/>
                </a:solidFill>
                <a:latin typeface="+mn-lt"/>
              </a:rPr>
              <a:t>.</a:t>
            </a:r>
          </a:p>
          <a:p>
            <a:pPr lvl="1" algn="just" latinLnBrk="0">
              <a:lnSpc>
                <a:spcPct val="114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i="1">
                <a:solidFill>
                  <a:schemeClr val="tx1"/>
                </a:solidFill>
                <a:latin typeface="+mn-lt"/>
              </a:rPr>
              <a:t>div_en</a:t>
            </a:r>
            <a:r>
              <a:rPr lang="en-US">
                <a:solidFill>
                  <a:schemeClr val="tx1"/>
                </a:solidFill>
                <a:latin typeface="+mn-lt"/>
              </a:rPr>
              <a:t> or </a:t>
            </a:r>
            <a:r>
              <a:rPr lang="en-US" i="1">
                <a:solidFill>
                  <a:schemeClr val="tx1"/>
                </a:solidFill>
                <a:latin typeface="+mn-lt"/>
              </a:rPr>
              <a:t>div_val</a:t>
            </a:r>
            <a:r>
              <a:rPr lang="en-US">
                <a:solidFill>
                  <a:schemeClr val="tx1"/>
                </a:solidFill>
                <a:latin typeface="+mn-lt"/>
              </a:rPr>
              <a:t> changes during timer is operating.</a:t>
            </a:r>
          </a:p>
          <a:p>
            <a:pPr algn="just" latinLnBrk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>
                <a:solidFill>
                  <a:schemeClr val="tx1"/>
                </a:solidFill>
                <a:latin typeface="+mn-lt"/>
              </a:rPr>
              <a:t>When error occurs, data is not written into register bits/fields.</a:t>
            </a:r>
          </a:p>
        </p:txBody>
      </p:sp>
    </p:spTree>
    <p:extLst>
      <p:ext uri="{BB962C8B-B14F-4D97-AF65-F5344CB8AC3E}">
        <p14:creationId xmlns:p14="http://schemas.microsoft.com/office/powerpoint/2010/main" val="2125470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06DE6-8327-8D17-191D-620DB6CFE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97DED9-2ABD-4E3D-F4D4-407C3C8F2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3" y="188640"/>
            <a:ext cx="8586972" cy="796908"/>
          </a:xfrm>
        </p:spPr>
        <p:txBody>
          <a:bodyPr/>
          <a:lstStyle/>
          <a:p>
            <a:r>
              <a:rPr lang="en-US" altLang="ko-KR">
                <a:latin typeface="+mj-lt"/>
              </a:rPr>
              <a:t>1.3. Register Specification – Register Summary</a:t>
            </a:r>
            <a:endParaRPr lang="ko-KR" altLang="en-US" dirty="0">
              <a:latin typeface="+mj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48B6B69-3065-C071-A589-02E0D674CE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827000"/>
              </p:ext>
            </p:extLst>
          </p:nvPr>
        </p:nvGraphicFramePr>
        <p:xfrm>
          <a:off x="350044" y="2132856"/>
          <a:ext cx="11491911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3548">
                  <a:extLst>
                    <a:ext uri="{9D8B030D-6E8A-4147-A177-3AD203B41FA5}">
                      <a16:colId xmlns:a16="http://schemas.microsoft.com/office/drawing/2014/main" val="270883768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1597057917"/>
                    </a:ext>
                  </a:extLst>
                </a:gridCol>
                <a:gridCol w="6970091">
                  <a:extLst>
                    <a:ext uri="{9D8B030D-6E8A-4147-A177-3AD203B41FA5}">
                      <a16:colId xmlns:a16="http://schemas.microsoft.com/office/drawing/2014/main" val="42095523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</a:rPr>
                        <a:t>Offset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</a:rPr>
                        <a:t>Abbreviation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</a:rPr>
                        <a:t>Register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11611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</a:rPr>
                        <a:t>0x00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</a:rPr>
                        <a:t>TCR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4000"/>
                        </a:lnSpc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</a:rPr>
                        <a:t>Timer Control Register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069669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</a:rPr>
                        <a:t>0x04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</a:rPr>
                        <a:t>TDR0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4000"/>
                        </a:lnSpc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</a:rPr>
                        <a:t>Timer Data Register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63762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</a:rPr>
                        <a:t>0x08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</a:rPr>
                        <a:t>TDR1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4000"/>
                        </a:lnSpc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</a:rPr>
                        <a:t>Timer Data Register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09973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</a:rPr>
                        <a:t>0x0C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</a:rPr>
                        <a:t>TCMP0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4000"/>
                        </a:lnSpc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</a:rPr>
                        <a:t>Timer Compare Register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56267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</a:rPr>
                        <a:t>0x10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</a:rPr>
                        <a:t>TCMP1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4000"/>
                        </a:lnSpc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</a:rPr>
                        <a:t>Timer Compare Register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848624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</a:rPr>
                        <a:t>0x14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</a:rPr>
                        <a:t>TIER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4000"/>
                        </a:lnSpc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</a:rPr>
                        <a:t>Timer Interrupt Enable Register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113958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</a:rPr>
                        <a:t>0x18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</a:rPr>
                        <a:t>TISR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4000"/>
                        </a:lnSpc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</a:rPr>
                        <a:t>Timer Interrupt Status Register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7544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</a:rPr>
                        <a:t>0x1C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</a:rPr>
                        <a:t>THCSR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4000"/>
                        </a:lnSpc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</a:rPr>
                        <a:t>Timer Halt Control Status Register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749599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</a:rPr>
                        <a:t>Others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+mn-lt"/>
                        </a:rPr>
                        <a:t>Reserved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4000"/>
                        </a:lnSpc>
                      </a:pPr>
                      <a:endParaRPr lang="en-US" sz="20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62702968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C5A46A9-643D-03A5-15D2-CC13DDDF4679}"/>
              </a:ext>
            </a:extLst>
          </p:cNvPr>
          <p:cNvSpPr txBox="1"/>
          <p:nvPr/>
        </p:nvSpPr>
        <p:spPr>
          <a:xfrm>
            <a:off x="350044" y="1556792"/>
            <a:ext cx="609437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/>
              <a:t>Base address: 0x4000_1000</a:t>
            </a:r>
          </a:p>
        </p:txBody>
      </p:sp>
    </p:spTree>
    <p:extLst>
      <p:ext uri="{BB962C8B-B14F-4D97-AF65-F5344CB8AC3E}">
        <p14:creationId xmlns:p14="http://schemas.microsoft.com/office/powerpoint/2010/main" val="2058440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7B69B-FFEF-2903-0112-C476A472B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249EBC-83FF-A51A-2276-707A777DB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3" y="188640"/>
            <a:ext cx="8586972" cy="796908"/>
          </a:xfrm>
        </p:spPr>
        <p:txBody>
          <a:bodyPr/>
          <a:lstStyle/>
          <a:p>
            <a:r>
              <a:rPr lang="en-US" altLang="ko-KR">
                <a:latin typeface="+mj-lt"/>
              </a:rPr>
              <a:t>1.3. Register Specification – </a:t>
            </a:r>
            <a:r>
              <a:rPr lang="en-US"/>
              <a:t>Timer Control Register (TCR)</a:t>
            </a:r>
            <a:endParaRPr lang="ko-KR" altLang="en-US" dirty="0">
              <a:latin typeface="+mj-lt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707A293-6B48-F767-C584-E41DBA03DC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5304478"/>
              </p:ext>
            </p:extLst>
          </p:nvPr>
        </p:nvGraphicFramePr>
        <p:xfrm>
          <a:off x="119336" y="1484784"/>
          <a:ext cx="11953328" cy="5280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3417179598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70798184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636867386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8409639"/>
                    </a:ext>
                  </a:extLst>
                </a:gridCol>
                <a:gridCol w="9073008">
                  <a:extLst>
                    <a:ext uri="{9D8B030D-6E8A-4147-A177-3AD203B41FA5}">
                      <a16:colId xmlns:a16="http://schemas.microsoft.com/office/drawing/2014/main" val="33762686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b="1">
                          <a:solidFill>
                            <a:schemeClr val="tx1"/>
                          </a:solidFill>
                          <a:latin typeface="+mn-lt"/>
                        </a:rPr>
                        <a:t>Bit</a:t>
                      </a:r>
                      <a:endParaRPr lang="en-US" sz="115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150" b="1">
                          <a:solidFill>
                            <a:schemeClr val="tx1"/>
                          </a:solidFill>
                          <a:latin typeface="+mn-lt"/>
                        </a:rPr>
                        <a:t>Name</a:t>
                      </a:r>
                      <a:endParaRPr lang="en-US" sz="115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150" b="1">
                          <a:solidFill>
                            <a:schemeClr val="tx1"/>
                          </a:solidFill>
                          <a:latin typeface="+mn-lt"/>
                        </a:rPr>
                        <a:t>Type</a:t>
                      </a:r>
                      <a:endParaRPr lang="en-US" sz="115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150" b="1">
                          <a:solidFill>
                            <a:schemeClr val="tx1"/>
                          </a:solidFill>
                          <a:latin typeface="+mn-lt"/>
                        </a:rPr>
                        <a:t>Default value</a:t>
                      </a:r>
                      <a:endParaRPr lang="en-US" sz="115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150" b="1">
                          <a:solidFill>
                            <a:schemeClr val="tx1"/>
                          </a:solidFill>
                          <a:latin typeface="+mn-lt"/>
                        </a:rPr>
                        <a:t>Description</a:t>
                      </a:r>
                      <a:endParaRPr lang="en-US" sz="115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818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150" b="0">
                          <a:solidFill>
                            <a:schemeClr val="tx1"/>
                          </a:solidFill>
                          <a:latin typeface="+mn-lt"/>
                        </a:rPr>
                        <a:t>31:12</a:t>
                      </a:r>
                      <a:endParaRPr lang="en-US" sz="115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150" b="0">
                          <a:solidFill>
                            <a:schemeClr val="tx1"/>
                          </a:solidFill>
                          <a:latin typeface="+mn-lt"/>
                        </a:rPr>
                        <a:t>Reserved</a:t>
                      </a:r>
                      <a:endParaRPr lang="en-US" sz="115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150" b="0">
                          <a:solidFill>
                            <a:schemeClr val="tx1"/>
                          </a:solidFill>
                          <a:latin typeface="+mn-lt"/>
                        </a:rPr>
                        <a:t>-</a:t>
                      </a:r>
                      <a:endParaRPr lang="en-US" sz="115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150" b="0">
                          <a:solidFill>
                            <a:schemeClr val="tx1"/>
                          </a:solidFill>
                          <a:latin typeface="+mn-lt"/>
                        </a:rPr>
                        <a:t>20’h0</a:t>
                      </a:r>
                      <a:endParaRPr lang="en-US" sz="115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150" b="0">
                          <a:solidFill>
                            <a:schemeClr val="tx1"/>
                          </a:solidFill>
                          <a:latin typeface="+mn-lt"/>
                        </a:rPr>
                        <a:t>Reserved</a:t>
                      </a:r>
                      <a:endParaRPr lang="en-US" sz="115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716047"/>
                  </a:ext>
                </a:extLst>
              </a:tr>
              <a:tr h="202298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150" b="0">
                          <a:solidFill>
                            <a:schemeClr val="tx1"/>
                          </a:solidFill>
                          <a:latin typeface="+mn-lt"/>
                        </a:rPr>
                        <a:t>11:8</a:t>
                      </a:r>
                      <a:endParaRPr lang="en-US" sz="115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150" b="0">
                          <a:solidFill>
                            <a:schemeClr val="tx1"/>
                          </a:solidFill>
                          <a:latin typeface="+mn-lt"/>
                        </a:rPr>
                        <a:t>div_val</a:t>
                      </a:r>
                      <a:endParaRPr lang="en-US" sz="115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150" b="0">
                          <a:solidFill>
                            <a:schemeClr val="tx1"/>
                          </a:solidFill>
                          <a:latin typeface="+mn-lt"/>
                        </a:rPr>
                        <a:t>RW</a:t>
                      </a:r>
                      <a:endParaRPr lang="en-US" sz="115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150" b="0">
                          <a:solidFill>
                            <a:schemeClr val="tx1"/>
                          </a:solidFill>
                          <a:latin typeface="+mn-lt"/>
                        </a:rPr>
                        <a:t>4’b0001</a:t>
                      </a:r>
                      <a:endParaRPr lang="en-US" sz="115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150" b="0">
                          <a:solidFill>
                            <a:schemeClr val="tx1"/>
                          </a:solidFill>
                          <a:latin typeface="+mn-lt"/>
                        </a:rPr>
                        <a:t>Counter control mode setting: </a:t>
                      </a:r>
                    </a:p>
                    <a:p>
                      <a:pPr marL="171450" indent="-171450" algn="just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50" b="0">
                          <a:solidFill>
                            <a:schemeClr val="tx1"/>
                          </a:solidFill>
                          <a:latin typeface="+mn-lt"/>
                        </a:rPr>
                        <a:t>4’b0000: Counting speed is not divided. </a:t>
                      </a:r>
                    </a:p>
                    <a:p>
                      <a:pPr marL="171450" indent="-171450" algn="just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50" b="0">
                          <a:solidFill>
                            <a:schemeClr val="tx1"/>
                          </a:solidFill>
                          <a:latin typeface="+mn-lt"/>
                        </a:rPr>
                        <a:t>4’b0001: Counting speed is divided by 2 (default).</a:t>
                      </a:r>
                    </a:p>
                    <a:p>
                      <a:pPr marL="171450" indent="-171450" algn="just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50" b="0">
                          <a:solidFill>
                            <a:schemeClr val="tx1"/>
                          </a:solidFill>
                          <a:latin typeface="+mn-lt"/>
                        </a:rPr>
                        <a:t>4’b0010: Counting speed is divided by 4.</a:t>
                      </a:r>
                    </a:p>
                    <a:p>
                      <a:pPr marL="171450" indent="-171450" algn="just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50" b="0">
                          <a:solidFill>
                            <a:schemeClr val="tx1"/>
                          </a:solidFill>
                          <a:latin typeface="+mn-lt"/>
                        </a:rPr>
                        <a:t>4’b0011: Counting speed is divided by 8.</a:t>
                      </a:r>
                    </a:p>
                    <a:p>
                      <a:pPr marL="171450" indent="-171450" algn="just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50" b="0">
                          <a:solidFill>
                            <a:schemeClr val="tx1"/>
                          </a:solidFill>
                          <a:latin typeface="+mn-lt"/>
                        </a:rPr>
                        <a:t>4’b0100: Counting speed is divided by 16.</a:t>
                      </a:r>
                    </a:p>
                    <a:p>
                      <a:pPr marL="171450" indent="-171450" algn="just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50" b="0">
                          <a:solidFill>
                            <a:schemeClr val="tx1"/>
                          </a:solidFill>
                          <a:latin typeface="+mn-lt"/>
                        </a:rPr>
                        <a:t>4’b0101: Counting speed is divided by 32.</a:t>
                      </a:r>
                    </a:p>
                    <a:p>
                      <a:pPr marL="171450" indent="-171450" algn="just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50" b="0">
                          <a:solidFill>
                            <a:schemeClr val="tx1"/>
                          </a:solidFill>
                          <a:latin typeface="+mn-lt"/>
                        </a:rPr>
                        <a:t>4’b0110: Counting speed is divided by 64.</a:t>
                      </a:r>
                    </a:p>
                    <a:p>
                      <a:pPr marL="171450" indent="-171450" algn="just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50" b="0">
                          <a:solidFill>
                            <a:schemeClr val="tx1"/>
                          </a:solidFill>
                          <a:latin typeface="+mn-lt"/>
                        </a:rPr>
                        <a:t>4’b0111: Counting speed is divided by 128.</a:t>
                      </a:r>
                    </a:p>
                    <a:p>
                      <a:pPr marL="171450" indent="-171450" algn="just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50" b="0">
                          <a:solidFill>
                            <a:schemeClr val="tx1"/>
                          </a:solidFill>
                          <a:latin typeface="+mn-lt"/>
                        </a:rPr>
                        <a:t>4’b1000: Counting speed is divided by 256.</a:t>
                      </a:r>
                    </a:p>
                    <a:p>
                      <a:pPr marL="171450" indent="-171450" algn="just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50" b="0">
                          <a:solidFill>
                            <a:schemeClr val="tx1"/>
                          </a:solidFill>
                          <a:latin typeface="+mn-lt"/>
                        </a:rPr>
                        <a:t>Others: reserved, prohibit settings. </a:t>
                      </a:r>
                    </a:p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150" b="0">
                          <a:solidFill>
                            <a:schemeClr val="tx1"/>
                          </a:solidFill>
                          <a:latin typeface="+mn-lt"/>
                        </a:rPr>
                        <a:t>When setting the prohibit value, div_val is not changed. </a:t>
                      </a:r>
                    </a:p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150" b="0">
                          <a:solidFill>
                            <a:schemeClr val="tx1"/>
                          </a:solidFill>
                          <a:latin typeface="+mn-lt"/>
                        </a:rPr>
                        <a:t>Note: User must not change div_en while timer_en is High.</a:t>
                      </a:r>
                    </a:p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150" b="0">
                          <a:solidFill>
                            <a:schemeClr val="tx1"/>
                          </a:solidFill>
                          <a:latin typeface="+mn-lt"/>
                        </a:rPr>
                        <a:t>Add hardware logic to ensure div_val is prohibited to change when timer_en is High. Access is error response in this case. </a:t>
                      </a:r>
                    </a:p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150" b="0">
                          <a:solidFill>
                            <a:schemeClr val="tx1"/>
                          </a:solidFill>
                          <a:latin typeface="+mn-lt"/>
                        </a:rPr>
                        <a:t>Access is “error response” when setting prohibit value to div_val.</a:t>
                      </a:r>
                      <a:endParaRPr lang="en-US" sz="115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556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b="0">
                          <a:solidFill>
                            <a:schemeClr val="tx1"/>
                          </a:solidFill>
                          <a:latin typeface="+mn-lt"/>
                        </a:rPr>
                        <a:t>7:2</a:t>
                      </a:r>
                      <a:endParaRPr lang="en-US" sz="115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150">
                          <a:latin typeface="+mn-lt"/>
                        </a:rPr>
                        <a:t>Reserved</a:t>
                      </a:r>
                      <a:endParaRPr lang="en-US" sz="115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150">
                          <a:latin typeface="+mn-lt"/>
                        </a:rPr>
                        <a:t>RO</a:t>
                      </a:r>
                      <a:endParaRPr lang="en-US" sz="115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150">
                          <a:latin typeface="+mn-lt"/>
                        </a:rPr>
                        <a:t>6’b0</a:t>
                      </a:r>
                      <a:endParaRPr lang="en-US" sz="115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150">
                          <a:latin typeface="+mn-lt"/>
                        </a:rPr>
                        <a:t>Reserved</a:t>
                      </a:r>
                      <a:endParaRPr lang="en-US" sz="115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846059"/>
                  </a:ext>
                </a:extLst>
              </a:tr>
              <a:tr h="774705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150">
                          <a:latin typeface="+mn-lt"/>
                        </a:rPr>
                        <a:t>1</a:t>
                      </a:r>
                      <a:endParaRPr lang="en-US" sz="115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150">
                          <a:latin typeface="+mn-lt"/>
                        </a:rPr>
                        <a:t>div_en</a:t>
                      </a:r>
                      <a:endParaRPr lang="en-US" sz="115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150">
                          <a:latin typeface="+mn-lt"/>
                        </a:rPr>
                        <a:t>RW</a:t>
                      </a:r>
                      <a:endParaRPr lang="en-US" sz="115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150">
                          <a:latin typeface="+mn-lt"/>
                        </a:rPr>
                        <a:t>1’b0</a:t>
                      </a:r>
                      <a:endParaRPr lang="en-US" sz="115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150">
                          <a:latin typeface="+mn-lt"/>
                        </a:rPr>
                        <a:t>Counter control mode enable. </a:t>
                      </a:r>
                    </a:p>
                    <a:p>
                      <a:pPr marL="171450" indent="-171450" algn="just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50">
                          <a:latin typeface="+mn-lt"/>
                        </a:rPr>
                        <a:t>0: Disabled. Counter counts with normal speed based on system clock.</a:t>
                      </a:r>
                    </a:p>
                    <a:p>
                      <a:pPr marL="171450" indent="-171450" algn="just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50">
                          <a:latin typeface="+mn-lt"/>
                        </a:rPr>
                        <a:t>1: Enabled. The couting speed of counter is controlled based on div_val.</a:t>
                      </a:r>
                    </a:p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150">
                          <a:latin typeface="+mn-lt"/>
                        </a:rPr>
                        <a:t>Note: User must not change div_en while timer_en is High.</a:t>
                      </a:r>
                    </a:p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150">
                          <a:latin typeface="+mn-lt"/>
                        </a:rPr>
                        <a:t>Add hardware logic to ensure div_en is prohibited to change when timer_en is High. Access is error response in this case.</a:t>
                      </a:r>
                      <a:endParaRPr lang="en-US" sz="115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722169"/>
                  </a:ext>
                </a:extLst>
              </a:tr>
              <a:tr h="159211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150">
                          <a:latin typeface="+mn-lt"/>
                        </a:rPr>
                        <a:t>0</a:t>
                      </a:r>
                      <a:endParaRPr lang="en-US" sz="115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150">
                          <a:latin typeface="+mn-lt"/>
                        </a:rPr>
                        <a:t>timer_en</a:t>
                      </a:r>
                      <a:endParaRPr lang="en-US" sz="115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150">
                          <a:latin typeface="+mn-lt"/>
                        </a:rPr>
                        <a:t>RW</a:t>
                      </a:r>
                      <a:endParaRPr lang="en-US" sz="115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150">
                          <a:latin typeface="+mn-lt"/>
                        </a:rPr>
                        <a:t>1’b0</a:t>
                      </a:r>
                      <a:endParaRPr lang="en-US" sz="115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150">
                          <a:latin typeface="+mn-lt"/>
                        </a:rPr>
                        <a:t>Timer enable</a:t>
                      </a:r>
                    </a:p>
                    <a:p>
                      <a:pPr marL="171450" indent="-171450" algn="just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50">
                          <a:latin typeface="+mn-lt"/>
                        </a:rPr>
                        <a:t>0: Disabled. Counter does not count. </a:t>
                      </a:r>
                    </a:p>
                    <a:p>
                      <a:pPr marL="171450" indent="-171450" algn="just" latinLnBrk="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50">
                          <a:latin typeface="+mn-lt"/>
                        </a:rPr>
                        <a:t>1: Enabled. Counter starts counting. </a:t>
                      </a:r>
                    </a:p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150">
                          <a:latin typeface="+mn-lt"/>
                        </a:rPr>
                        <a:t>Timer_en changes from H-&gt;L will initialize the TDR0/1 to their initial value.</a:t>
                      </a:r>
                      <a:endParaRPr lang="en-US" sz="115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554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6192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5D4E3-A2BC-A7C4-51C8-248D05CF0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A36E86-78E4-73F3-7F7F-5197907A1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3" y="188640"/>
            <a:ext cx="8586972" cy="796908"/>
          </a:xfrm>
        </p:spPr>
        <p:txBody>
          <a:bodyPr/>
          <a:lstStyle/>
          <a:p>
            <a:r>
              <a:rPr lang="en-US" altLang="ko-KR">
                <a:latin typeface="+mj-lt"/>
              </a:rPr>
              <a:t>1.3. Register Specification – </a:t>
            </a:r>
            <a:r>
              <a:rPr lang="en-US"/>
              <a:t>Timer Data Register 0 (TDR0)</a:t>
            </a:r>
            <a:endParaRPr lang="ko-KR" altLang="en-US" dirty="0">
              <a:latin typeface="+mj-lt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8273B69-F1FA-E7BC-0EB4-4EEB9C5B27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7508858"/>
              </p:ext>
            </p:extLst>
          </p:nvPr>
        </p:nvGraphicFramePr>
        <p:xfrm>
          <a:off x="119336" y="2971800"/>
          <a:ext cx="11953328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3417179598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707981844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636867386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18409639"/>
                    </a:ext>
                  </a:extLst>
                </a:gridCol>
                <a:gridCol w="8496944">
                  <a:extLst>
                    <a:ext uri="{9D8B030D-6E8A-4147-A177-3AD203B41FA5}">
                      <a16:colId xmlns:a16="http://schemas.microsoft.com/office/drawing/2014/main" val="33762686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Bit</a:t>
                      </a:r>
                      <a:endParaRPr lang="en-US" sz="160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Name</a:t>
                      </a:r>
                      <a:endParaRPr lang="en-US" sz="160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Type</a:t>
                      </a:r>
                      <a:endParaRPr lang="en-US" sz="160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Default value</a:t>
                      </a:r>
                      <a:endParaRPr lang="en-US" sz="160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Description</a:t>
                      </a:r>
                      <a:endParaRPr lang="en-US" sz="160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818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+mn-lt"/>
                        </a:rPr>
                        <a:t>31:0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+mn-lt"/>
                        </a:rPr>
                        <a:t>TDR0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+mn-lt"/>
                        </a:rPr>
                        <a:t>RW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+mn-lt"/>
                        </a:rPr>
                        <a:t>32’h0000_0000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Lower 32-bit of 64-bit counter. </a:t>
                      </a:r>
                    </a:p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Value of this register is cleared to initial value when timer_en changes from H-&gt;L.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716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5101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037BA-683C-E63A-6CF6-D6139EE7D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D743FD-935D-4BD1-B387-2BEB81036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3" y="188640"/>
            <a:ext cx="8586972" cy="796908"/>
          </a:xfrm>
        </p:spPr>
        <p:txBody>
          <a:bodyPr/>
          <a:lstStyle/>
          <a:p>
            <a:r>
              <a:rPr lang="en-US" altLang="ko-KR">
                <a:latin typeface="+mj-lt"/>
              </a:rPr>
              <a:t>1.3. Register Specification – </a:t>
            </a:r>
            <a:r>
              <a:rPr lang="en-US"/>
              <a:t>Timer Data Register 1 (TDR1)</a:t>
            </a:r>
            <a:endParaRPr lang="ko-KR" altLang="en-US" dirty="0">
              <a:latin typeface="+mj-lt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812D59F-D28E-2B08-F8B1-DD04C93D7A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0546759"/>
              </p:ext>
            </p:extLst>
          </p:nvPr>
        </p:nvGraphicFramePr>
        <p:xfrm>
          <a:off x="119336" y="2971800"/>
          <a:ext cx="11953328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3417179598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707981844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636867386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18409639"/>
                    </a:ext>
                  </a:extLst>
                </a:gridCol>
                <a:gridCol w="8496944">
                  <a:extLst>
                    <a:ext uri="{9D8B030D-6E8A-4147-A177-3AD203B41FA5}">
                      <a16:colId xmlns:a16="http://schemas.microsoft.com/office/drawing/2014/main" val="33762686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Bit</a:t>
                      </a:r>
                      <a:endParaRPr lang="en-US" sz="160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Name</a:t>
                      </a:r>
                      <a:endParaRPr lang="en-US" sz="160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Type</a:t>
                      </a:r>
                      <a:endParaRPr lang="en-US" sz="160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Default value</a:t>
                      </a:r>
                      <a:endParaRPr lang="en-US" sz="160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Description</a:t>
                      </a:r>
                      <a:endParaRPr lang="en-US" sz="160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818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+mn-lt"/>
                        </a:rPr>
                        <a:t>31:0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+mn-lt"/>
                        </a:rPr>
                        <a:t>TDR1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+mn-lt"/>
                        </a:rPr>
                        <a:t>RW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+mn-lt"/>
                        </a:rPr>
                        <a:t>32’h0000_0000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Upper 32-bit of 64-bit counter.  </a:t>
                      </a:r>
                    </a:p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Value of this register is cleared to initial value when timer_en changes from H-&gt;L.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716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6732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3B54F-C0B9-E5F5-5BD8-8A80CFDDA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927411-7F9F-85CB-0E62-E99AB444B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3" y="188640"/>
            <a:ext cx="8586972" cy="796908"/>
          </a:xfrm>
        </p:spPr>
        <p:txBody>
          <a:bodyPr/>
          <a:lstStyle/>
          <a:p>
            <a:r>
              <a:rPr lang="en-US" altLang="ko-KR">
                <a:latin typeface="+mj-lt"/>
              </a:rPr>
              <a:t>1.3. Register Specification – </a:t>
            </a:r>
            <a:r>
              <a:rPr lang="en-US"/>
              <a:t>Timer Compare Register 0 (TCMP0)</a:t>
            </a:r>
            <a:endParaRPr lang="ko-KR" altLang="en-US" dirty="0">
              <a:latin typeface="+mj-lt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3692474-60AB-C3FF-612F-DE94169011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7771376"/>
              </p:ext>
            </p:extLst>
          </p:nvPr>
        </p:nvGraphicFramePr>
        <p:xfrm>
          <a:off x="119336" y="2971800"/>
          <a:ext cx="11953328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3417179598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707981844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636867386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18409639"/>
                    </a:ext>
                  </a:extLst>
                </a:gridCol>
                <a:gridCol w="8496944">
                  <a:extLst>
                    <a:ext uri="{9D8B030D-6E8A-4147-A177-3AD203B41FA5}">
                      <a16:colId xmlns:a16="http://schemas.microsoft.com/office/drawing/2014/main" val="33762686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Bit</a:t>
                      </a:r>
                      <a:endParaRPr lang="en-US" sz="160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Name</a:t>
                      </a:r>
                      <a:endParaRPr lang="en-US" sz="160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Type</a:t>
                      </a:r>
                      <a:endParaRPr lang="en-US" sz="160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Default value</a:t>
                      </a:r>
                      <a:endParaRPr lang="en-US" sz="160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Description</a:t>
                      </a:r>
                      <a:endParaRPr lang="en-US" sz="160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818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+mn-lt"/>
                        </a:rPr>
                        <a:t>31:0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+mn-lt"/>
                        </a:rPr>
                        <a:t>TCMP0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+mn-lt"/>
                        </a:rPr>
                        <a:t>RW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+mn-lt"/>
                        </a:rPr>
                        <a:t>32’hFFFF_FFFF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Lower 32-bit of 64-bit compare value.</a:t>
                      </a: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  </a:t>
                      </a:r>
                    </a:p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Interrupt is asserted when counter value is equal to compare value.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716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9745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3A379-392B-93A5-1CC1-625F1ACD0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E1F75B-9C01-A143-14C4-655D14C5F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3" y="188640"/>
            <a:ext cx="8586972" cy="796908"/>
          </a:xfrm>
        </p:spPr>
        <p:txBody>
          <a:bodyPr/>
          <a:lstStyle/>
          <a:p>
            <a:r>
              <a:rPr lang="en-US" altLang="ko-KR">
                <a:latin typeface="+mj-lt"/>
              </a:rPr>
              <a:t>1.3. Register Specification – </a:t>
            </a:r>
            <a:r>
              <a:rPr lang="en-US"/>
              <a:t>Timer Compare Register 1 (TCMP1)</a:t>
            </a:r>
            <a:endParaRPr lang="ko-KR" altLang="en-US" dirty="0">
              <a:latin typeface="+mj-lt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47B9244-E557-A44D-9391-0E343F5606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6152548"/>
              </p:ext>
            </p:extLst>
          </p:nvPr>
        </p:nvGraphicFramePr>
        <p:xfrm>
          <a:off x="119336" y="2971800"/>
          <a:ext cx="11953328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3417179598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707981844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636867386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18409639"/>
                    </a:ext>
                  </a:extLst>
                </a:gridCol>
                <a:gridCol w="8496944">
                  <a:extLst>
                    <a:ext uri="{9D8B030D-6E8A-4147-A177-3AD203B41FA5}">
                      <a16:colId xmlns:a16="http://schemas.microsoft.com/office/drawing/2014/main" val="33762686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Bit</a:t>
                      </a:r>
                      <a:endParaRPr lang="en-US" sz="160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Name</a:t>
                      </a:r>
                      <a:endParaRPr lang="en-US" sz="160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Type</a:t>
                      </a:r>
                      <a:endParaRPr lang="en-US" sz="160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Default value</a:t>
                      </a:r>
                      <a:endParaRPr lang="en-US" sz="160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Description</a:t>
                      </a:r>
                      <a:endParaRPr lang="en-US" sz="160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818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+mn-lt"/>
                        </a:rPr>
                        <a:t>31:0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+mn-lt"/>
                        </a:rPr>
                        <a:t>TCMP1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+mn-lt"/>
                        </a:rPr>
                        <a:t>RW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+mn-lt"/>
                        </a:rPr>
                        <a:t>32’hFFFF_FFFF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Upper 32-bit of 64-bit compare value.</a:t>
                      </a: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  </a:t>
                      </a:r>
                    </a:p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Interrupt is asserted when counter value is equal to compare value.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716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997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D11B2-FA81-92B8-FAFA-C08312B08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A56438-6ED2-A372-7AAD-312BF0AD9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188640"/>
            <a:ext cx="8928991" cy="796908"/>
          </a:xfrm>
        </p:spPr>
        <p:txBody>
          <a:bodyPr>
            <a:noAutofit/>
          </a:bodyPr>
          <a:lstStyle/>
          <a:p>
            <a:r>
              <a:rPr lang="en-US" altLang="ko-KR">
                <a:latin typeface="+mj-lt"/>
              </a:rPr>
              <a:t>1.3. Register Specification – </a:t>
            </a:r>
            <a:r>
              <a:rPr lang="nb-NO"/>
              <a:t>Timer Interrupt Enable Register (TIER)</a:t>
            </a:r>
            <a:endParaRPr lang="ko-KR" altLang="en-US" dirty="0">
              <a:latin typeface="+mj-lt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F9B7ABE-9145-F963-2F77-3E336E27F2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1787250"/>
              </p:ext>
            </p:extLst>
          </p:nvPr>
        </p:nvGraphicFramePr>
        <p:xfrm>
          <a:off x="119336" y="2072640"/>
          <a:ext cx="11953328" cy="271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3417179598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707981844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636867386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8409639"/>
                    </a:ext>
                  </a:extLst>
                </a:gridCol>
                <a:gridCol w="8568952">
                  <a:extLst>
                    <a:ext uri="{9D8B030D-6E8A-4147-A177-3AD203B41FA5}">
                      <a16:colId xmlns:a16="http://schemas.microsoft.com/office/drawing/2014/main" val="33762686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Bit</a:t>
                      </a:r>
                      <a:endParaRPr lang="en-US" sz="160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Name</a:t>
                      </a:r>
                      <a:endParaRPr lang="en-US" sz="160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Type</a:t>
                      </a:r>
                      <a:endParaRPr lang="en-US" sz="160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Default value</a:t>
                      </a:r>
                      <a:endParaRPr lang="en-US" sz="160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Description</a:t>
                      </a:r>
                      <a:endParaRPr lang="en-US" sz="160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818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+mn-lt"/>
                        </a:rPr>
                        <a:t>31:1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Reserved 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RO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31’h0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Reserved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716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int_en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+mn-lt"/>
                        </a:rPr>
                        <a:t>RW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1’b0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Timer interrupt enable </a:t>
                      </a:r>
                    </a:p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0: Timer interrupt is disabled. </a:t>
                      </a:r>
                    </a:p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1: Timer interrupt is enabled. </a:t>
                      </a:r>
                    </a:p>
                    <a:p>
                      <a:pPr algn="just" latinLnBrk="0">
                        <a:lnSpc>
                          <a:spcPct val="100000"/>
                        </a:lnSpc>
                      </a:pPr>
                      <a:endParaRPr lang="en-US" sz="1600"/>
                    </a:p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When this bit is 0, no timer interrupt is output. </a:t>
                      </a:r>
                    </a:p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When this bit is 1, timer interrupt can be output when reaching trigger condition. </a:t>
                      </a:r>
                    </a:p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Clearing this bit to 0 while interrupt is asserting will mask the interrupt to 0 but does not affect the interrupt pending bit TISR.int_st bit.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608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6170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DAFDA-8C7C-0732-FC7B-28A388EC3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DAFFCB-58D3-9D0D-03FA-56ECA53DC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188640"/>
            <a:ext cx="8928991" cy="796908"/>
          </a:xfrm>
        </p:spPr>
        <p:txBody>
          <a:bodyPr>
            <a:noAutofit/>
          </a:bodyPr>
          <a:lstStyle/>
          <a:p>
            <a:r>
              <a:rPr lang="en-US" altLang="ko-KR">
                <a:latin typeface="+mj-lt"/>
              </a:rPr>
              <a:t>1.3. Register Specification – </a:t>
            </a:r>
            <a:r>
              <a:rPr lang="en-US"/>
              <a:t>Timer Interrupt Status Register (TISR)</a:t>
            </a:r>
            <a:endParaRPr lang="ko-KR" altLang="en-US" dirty="0">
              <a:latin typeface="+mj-lt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BBBFE7F-2FBD-C25A-EF91-D44BA99148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7666315"/>
              </p:ext>
            </p:extLst>
          </p:nvPr>
        </p:nvGraphicFramePr>
        <p:xfrm>
          <a:off x="119336" y="2072640"/>
          <a:ext cx="1195332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3417179598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707981844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636867386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8409639"/>
                    </a:ext>
                  </a:extLst>
                </a:gridCol>
                <a:gridCol w="8424936">
                  <a:extLst>
                    <a:ext uri="{9D8B030D-6E8A-4147-A177-3AD203B41FA5}">
                      <a16:colId xmlns:a16="http://schemas.microsoft.com/office/drawing/2014/main" val="33762686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Bit</a:t>
                      </a:r>
                      <a:endParaRPr lang="en-US" sz="160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Name</a:t>
                      </a:r>
                      <a:endParaRPr lang="en-US" sz="160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Type</a:t>
                      </a:r>
                      <a:endParaRPr lang="en-US" sz="160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Default value</a:t>
                      </a:r>
                      <a:endParaRPr lang="en-US" sz="160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Description</a:t>
                      </a:r>
                      <a:endParaRPr lang="en-US" sz="160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818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+mn-lt"/>
                        </a:rPr>
                        <a:t>31:1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Reserved 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RO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31’h0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Reserved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716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int_st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+mn-lt"/>
                        </a:rPr>
                        <a:t>RW1C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1’b0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Timer interrupt trigger condition status bit (interrupt pending bit) </a:t>
                      </a:r>
                    </a:p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0: the interrupt trigger condition does not occur. </a:t>
                      </a:r>
                    </a:p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1: the interrupt trigger condition occurred. </a:t>
                      </a:r>
                    </a:p>
                    <a:p>
                      <a:pPr algn="just" latinLnBrk="0">
                        <a:lnSpc>
                          <a:spcPct val="100000"/>
                        </a:lnSpc>
                      </a:pPr>
                      <a:endParaRPr lang="en-US" sz="1600"/>
                    </a:p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Write 1 when this bit is 1 to clear it.</a:t>
                      </a:r>
                    </a:p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Write 0 when this bit is 1 has no effect.</a:t>
                      </a:r>
                    </a:p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Write to this bit when it is 0 has no effect. </a:t>
                      </a:r>
                    </a:p>
                    <a:p>
                      <a:pPr algn="just" latinLnBrk="0">
                        <a:lnSpc>
                          <a:spcPct val="100000"/>
                        </a:lnSpc>
                      </a:pPr>
                      <a:endParaRPr lang="en-US" sz="1600"/>
                    </a:p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Note: When interrupt trigger condition occurred (counter reached compare value), counter continues to count normally.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608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14528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5F08D-CF21-5774-830E-670DAAAC6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B1020B-5B8E-AFAF-E25D-22A2CC0D4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188640"/>
            <a:ext cx="9505056" cy="796908"/>
          </a:xfrm>
        </p:spPr>
        <p:txBody>
          <a:bodyPr>
            <a:noAutofit/>
          </a:bodyPr>
          <a:lstStyle/>
          <a:p>
            <a:r>
              <a:rPr lang="en-US" altLang="ko-KR">
                <a:latin typeface="+mj-lt"/>
              </a:rPr>
              <a:t>1.3. Register Specification – </a:t>
            </a:r>
            <a:r>
              <a:rPr lang="en-US"/>
              <a:t>Timer Halt Control Status Register (THCSR)</a:t>
            </a:r>
            <a:endParaRPr lang="ko-KR" altLang="en-US" dirty="0">
              <a:latin typeface="+mj-lt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C992460-B229-09FD-6A88-EA4364ADFF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3533610"/>
              </p:ext>
            </p:extLst>
          </p:nvPr>
        </p:nvGraphicFramePr>
        <p:xfrm>
          <a:off x="119336" y="2026920"/>
          <a:ext cx="11953328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3417179598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707981844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636867386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8409639"/>
                    </a:ext>
                  </a:extLst>
                </a:gridCol>
                <a:gridCol w="8424936">
                  <a:extLst>
                    <a:ext uri="{9D8B030D-6E8A-4147-A177-3AD203B41FA5}">
                      <a16:colId xmlns:a16="http://schemas.microsoft.com/office/drawing/2014/main" val="33762686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Bit</a:t>
                      </a:r>
                      <a:endParaRPr lang="en-US" sz="160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Name</a:t>
                      </a:r>
                      <a:endParaRPr lang="en-US" sz="160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Type</a:t>
                      </a:r>
                      <a:endParaRPr lang="en-US" sz="160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Default value</a:t>
                      </a:r>
                      <a:endParaRPr lang="en-US" sz="160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+mn-lt"/>
                        </a:rPr>
                        <a:t>Description</a:t>
                      </a:r>
                      <a:endParaRPr lang="en-US" sz="1600" b="1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818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31:2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Reserved 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RO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30’h0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Reserved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716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halt_ack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+mn-lt"/>
                        </a:rPr>
                        <a:t>RO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1’b0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Timer halt acknowledge </a:t>
                      </a:r>
                    </a:p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0: timer is NOT halted </a:t>
                      </a:r>
                    </a:p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1: timer is halted </a:t>
                      </a:r>
                    </a:p>
                    <a:p>
                      <a:pPr algn="just" latinLnBrk="0">
                        <a:lnSpc>
                          <a:spcPct val="100000"/>
                        </a:lnSpc>
                      </a:pPr>
                      <a:endParaRPr lang="en-US" sz="1600"/>
                    </a:p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Timer accepts the halt request only in debug mode, indicates by debug_mode input signal.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608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halt_req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  <a:latin typeface="+mn-lt"/>
                        </a:rPr>
                        <a:t>RW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1’b0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Timer halt request </a:t>
                      </a:r>
                    </a:p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0: no halt req. </a:t>
                      </a:r>
                    </a:p>
                    <a:p>
                      <a:pPr algn="just" latinLnBrk="0">
                        <a:lnSpc>
                          <a:spcPct val="100000"/>
                        </a:lnSpc>
                      </a:pPr>
                      <a:r>
                        <a:rPr lang="en-US" sz="1600"/>
                        <a:t>1: timer is requested to halt.</a:t>
                      </a:r>
                      <a:endParaRPr lang="en-US" sz="1600" b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864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6862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65061-FF3B-BC2B-57EC-F1802E08A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2C71B5-652C-808B-EA01-365BE62B3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3" y="188640"/>
            <a:ext cx="8586972" cy="796908"/>
          </a:xfrm>
        </p:spPr>
        <p:txBody>
          <a:bodyPr/>
          <a:lstStyle/>
          <a:p>
            <a:r>
              <a:rPr lang="en-US" altLang="ko-KR"/>
              <a:t>2</a:t>
            </a:r>
            <a:r>
              <a:rPr lang="en-US" altLang="ko-KR">
                <a:latin typeface="+mj-lt"/>
              </a:rPr>
              <a:t>.1. IO Port List</a:t>
            </a:r>
            <a:endParaRPr lang="ko-KR" altLang="en-US" dirty="0">
              <a:latin typeface="+mj-lt"/>
            </a:endParaRP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B2447801-6F72-D6E4-7151-0A1E169A8A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1257392"/>
              </p:ext>
            </p:extLst>
          </p:nvPr>
        </p:nvGraphicFramePr>
        <p:xfrm>
          <a:off x="191344" y="1673500"/>
          <a:ext cx="11809312" cy="5064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70883768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3612680008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597057917"/>
                    </a:ext>
                  </a:extLst>
                </a:gridCol>
                <a:gridCol w="9433048">
                  <a:extLst>
                    <a:ext uri="{9D8B030D-6E8A-4147-A177-3AD203B41FA5}">
                      <a16:colId xmlns:a16="http://schemas.microsoft.com/office/drawing/2014/main" val="4209552333"/>
                    </a:ext>
                  </a:extLst>
                </a:gridCol>
              </a:tblGrid>
              <a:tr h="23461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</a:rPr>
                        <a:t>Signal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</a:rPr>
                        <a:t>Width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</a:rPr>
                        <a:t>Direction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11611037"/>
                  </a:ext>
                </a:extLst>
              </a:tr>
              <a:tr h="23461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sys_clk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just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Input clock signal for the timer module.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069669143"/>
                  </a:ext>
                </a:extLst>
              </a:tr>
              <a:tr h="23461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sys_rst_n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just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Active-low asynchronous reset signal</a:t>
                      </a:r>
                    </a:p>
                    <a:p>
                      <a:pPr algn="just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0: The counter is in reset state</a:t>
                      </a:r>
                    </a:p>
                    <a:p>
                      <a:pPr algn="just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1: The counter is in non-reset 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63762514"/>
                  </a:ext>
                </a:extLst>
              </a:tr>
              <a:tr h="23461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tim_psel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APB select signal to indicate the timer module is selected for a transaction.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09973487"/>
                  </a:ext>
                </a:extLst>
              </a:tr>
              <a:tr h="23461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tim_pwrite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APB write control signal</a:t>
                      </a:r>
                    </a:p>
                    <a:p>
                      <a:pPr algn="just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0: Read operation</a:t>
                      </a:r>
                    </a:p>
                    <a:p>
                      <a:pPr algn="just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1: Write operation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56267314"/>
                  </a:ext>
                </a:extLst>
              </a:tr>
              <a:tr h="23461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tim_penable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APB enable signal to initiate the data phase of a transaction.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848624104"/>
                  </a:ext>
                </a:extLst>
              </a:tr>
              <a:tr h="429134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tim_paddr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just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APB address bus to specify the register address.</a:t>
                      </a:r>
                    </a:p>
                    <a:p>
                      <a:pPr algn="just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Note: The bit-width must accommodate the address space.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113958758"/>
                  </a:ext>
                </a:extLst>
              </a:tr>
              <a:tr h="429134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tim_pwdata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APB write data bus to provide data for write transactions.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7544717"/>
                  </a:ext>
                </a:extLst>
              </a:tr>
              <a:tr h="429134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tim_prdata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APB read data bus to return data during read transactions.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749599445"/>
                  </a:ext>
                </a:extLst>
              </a:tr>
              <a:tr h="23461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tim_pstrb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APB byte strobe signal for specifying valid write data bytes.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627029688"/>
                  </a:ext>
                </a:extLst>
              </a:tr>
              <a:tr h="23461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tim_pready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APB ready signal to indicate the timer module has completed the transaction.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8423392"/>
                  </a:ext>
                </a:extLst>
              </a:tr>
              <a:tr h="23461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tim_pslverr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APB error signal to indicate an invalid or unsupported transaction.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197192062"/>
                  </a:ext>
                </a:extLst>
              </a:tr>
              <a:tr h="23461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tim_int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just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Timer interrupt signal triggered when the timer generates an interrupt.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997020173"/>
                  </a:ext>
                </a:extLst>
              </a:tr>
              <a:tr h="23461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dbg_mode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just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</a:rPr>
                        <a:t>Debug mode signal to enable or disable debug functionality for the timer.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9263195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193402C-4069-2714-7C60-B78475E7E81E}"/>
              </a:ext>
            </a:extLst>
          </p:cNvPr>
          <p:cNvSpPr txBox="1"/>
          <p:nvPr/>
        </p:nvSpPr>
        <p:spPr>
          <a:xfrm>
            <a:off x="263353" y="1374483"/>
            <a:ext cx="609437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/>
              <a:t>Top module name: </a:t>
            </a:r>
            <a:r>
              <a:rPr lang="en-US" sz="1500" b="1">
                <a:solidFill>
                  <a:srgbClr val="FF0000"/>
                </a:solidFill>
              </a:rPr>
              <a:t>timer_top</a:t>
            </a:r>
          </a:p>
        </p:txBody>
      </p:sp>
    </p:spTree>
    <p:extLst>
      <p:ext uri="{BB962C8B-B14F-4D97-AF65-F5344CB8AC3E}">
        <p14:creationId xmlns:p14="http://schemas.microsoft.com/office/powerpoint/2010/main" val="3567990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368E2-EC3C-DA0A-8B9F-607AD7F9A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4E67A8-3660-28C4-3614-D12B7BC74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3" y="188640"/>
            <a:ext cx="8586972" cy="796908"/>
          </a:xfrm>
        </p:spPr>
        <p:txBody>
          <a:bodyPr/>
          <a:lstStyle/>
          <a:p>
            <a:r>
              <a:rPr lang="en-US" altLang="ko-KR"/>
              <a:t>2</a:t>
            </a:r>
            <a:r>
              <a:rPr lang="en-US" altLang="ko-KR">
                <a:latin typeface="+mj-lt"/>
              </a:rPr>
              <a:t>.2. Block diagram</a:t>
            </a:r>
            <a:endParaRPr lang="ko-KR" altLang="en-US" dirty="0">
              <a:latin typeface="+mj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D95013-A2A0-9EBD-A4E7-089BD6AE8395}"/>
              </a:ext>
            </a:extLst>
          </p:cNvPr>
          <p:cNvSpPr/>
          <p:nvPr/>
        </p:nvSpPr>
        <p:spPr>
          <a:xfrm>
            <a:off x="1919536" y="1657610"/>
            <a:ext cx="8722533" cy="50117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4E4126E-3193-60B0-88BA-C3DAD9EC85E9}"/>
              </a:ext>
            </a:extLst>
          </p:cNvPr>
          <p:cNvCxnSpPr>
            <a:cxnSpLocks/>
          </p:cNvCxnSpPr>
          <p:nvPr/>
        </p:nvCxnSpPr>
        <p:spPr>
          <a:xfrm>
            <a:off x="991530" y="1984281"/>
            <a:ext cx="9280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DB73B243-2B05-3165-BDF7-4C0DD5293840}"/>
              </a:ext>
            </a:extLst>
          </p:cNvPr>
          <p:cNvSpPr/>
          <p:nvPr/>
        </p:nvSpPr>
        <p:spPr>
          <a:xfrm>
            <a:off x="2603149" y="2773628"/>
            <a:ext cx="1053078" cy="15907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tx1"/>
                </a:solidFill>
              </a:rPr>
              <a:t>APB slave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0381DFA-9C11-7548-C39E-B03E78BCC853}"/>
              </a:ext>
            </a:extLst>
          </p:cNvPr>
          <p:cNvCxnSpPr>
            <a:cxnSpLocks/>
            <a:stCxn id="109" idx="3"/>
          </p:cNvCxnSpPr>
          <p:nvPr/>
        </p:nvCxnSpPr>
        <p:spPr>
          <a:xfrm>
            <a:off x="10510036" y="6075886"/>
            <a:ext cx="8425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F560B03-C136-67F7-9186-064EB562FBD9}"/>
              </a:ext>
            </a:extLst>
          </p:cNvPr>
          <p:cNvSpPr txBox="1"/>
          <p:nvPr/>
        </p:nvSpPr>
        <p:spPr>
          <a:xfrm>
            <a:off x="1143715" y="1728859"/>
            <a:ext cx="6407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sys_clk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D9006E-2EF0-2FC5-37D4-20B78582F321}"/>
              </a:ext>
            </a:extLst>
          </p:cNvPr>
          <p:cNvSpPr txBox="1"/>
          <p:nvPr/>
        </p:nvSpPr>
        <p:spPr>
          <a:xfrm>
            <a:off x="10504446" y="5812015"/>
            <a:ext cx="9605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/>
              <a:t>tim_int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6E79F7-99FA-23B3-B59E-9E107A5ED52E}"/>
              </a:ext>
            </a:extLst>
          </p:cNvPr>
          <p:cNvSpPr txBox="1"/>
          <p:nvPr/>
        </p:nvSpPr>
        <p:spPr>
          <a:xfrm>
            <a:off x="1950616" y="1673462"/>
            <a:ext cx="10675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rgbClr val="FF0000"/>
                </a:solidFill>
              </a:rPr>
              <a:t>timer_top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FD9E90A-C9B7-F6E9-41E6-4771C33CE3C0}"/>
              </a:ext>
            </a:extLst>
          </p:cNvPr>
          <p:cNvCxnSpPr>
            <a:cxnSpLocks/>
          </p:cNvCxnSpPr>
          <p:nvPr/>
        </p:nvCxnSpPr>
        <p:spPr>
          <a:xfrm>
            <a:off x="991530" y="2273310"/>
            <a:ext cx="9280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D50A4C2-5CB2-0378-29B5-AB3D8B6406A7}"/>
              </a:ext>
            </a:extLst>
          </p:cNvPr>
          <p:cNvSpPr txBox="1"/>
          <p:nvPr/>
        </p:nvSpPr>
        <p:spPr>
          <a:xfrm>
            <a:off x="1040210" y="2020966"/>
            <a:ext cx="8274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sys_rst_n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9060C78-3E59-D083-7380-CD5E80D14A3E}"/>
              </a:ext>
            </a:extLst>
          </p:cNvPr>
          <p:cNvCxnSpPr>
            <a:cxnSpLocks/>
          </p:cNvCxnSpPr>
          <p:nvPr/>
        </p:nvCxnSpPr>
        <p:spPr>
          <a:xfrm flipV="1">
            <a:off x="991530" y="2585394"/>
            <a:ext cx="6035217" cy="5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C48C36D-D712-2984-581A-0BE404654F80}"/>
              </a:ext>
            </a:extLst>
          </p:cNvPr>
          <p:cNvSpPr txBox="1"/>
          <p:nvPr/>
        </p:nvSpPr>
        <p:spPr>
          <a:xfrm>
            <a:off x="974432" y="2321882"/>
            <a:ext cx="9451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dbg_mode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94640B-9DD5-648E-A0E3-89E187A31CD8}"/>
              </a:ext>
            </a:extLst>
          </p:cNvPr>
          <p:cNvSpPr txBox="1"/>
          <p:nvPr/>
        </p:nvSpPr>
        <p:spPr>
          <a:xfrm>
            <a:off x="982624" y="2922299"/>
            <a:ext cx="9451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tim_pready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9C0C3BB-465A-0B3F-D41A-1DD8C2876AF5}"/>
              </a:ext>
            </a:extLst>
          </p:cNvPr>
          <p:cNvSpPr txBox="1"/>
          <p:nvPr/>
        </p:nvSpPr>
        <p:spPr>
          <a:xfrm>
            <a:off x="647669" y="2660584"/>
            <a:ext cx="13137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tim_prdata [31:0]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6A1D820-EE55-B62F-01A1-067C9CAE18F9}"/>
              </a:ext>
            </a:extLst>
          </p:cNvPr>
          <p:cNvSpPr txBox="1"/>
          <p:nvPr/>
        </p:nvSpPr>
        <p:spPr>
          <a:xfrm>
            <a:off x="981407" y="3202476"/>
            <a:ext cx="9451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tim_pslverr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21A2A21-D8BC-0671-1FE1-184211413E85}"/>
              </a:ext>
            </a:extLst>
          </p:cNvPr>
          <p:cNvCxnSpPr>
            <a:cxnSpLocks/>
          </p:cNvCxnSpPr>
          <p:nvPr/>
        </p:nvCxnSpPr>
        <p:spPr>
          <a:xfrm flipH="1">
            <a:off x="607031" y="2906096"/>
            <a:ext cx="19961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C263310-7DED-6432-BE24-77C4817C8798}"/>
              </a:ext>
            </a:extLst>
          </p:cNvPr>
          <p:cNvCxnSpPr>
            <a:cxnSpLocks/>
          </p:cNvCxnSpPr>
          <p:nvPr/>
        </p:nvCxnSpPr>
        <p:spPr>
          <a:xfrm flipH="1" flipV="1">
            <a:off x="974432" y="3199298"/>
            <a:ext cx="1628717" cy="3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C972D6C-8584-CAD7-61CB-C38EC6DA1938}"/>
              </a:ext>
            </a:extLst>
          </p:cNvPr>
          <p:cNvCxnSpPr>
            <a:cxnSpLocks/>
          </p:cNvCxnSpPr>
          <p:nvPr/>
        </p:nvCxnSpPr>
        <p:spPr>
          <a:xfrm flipH="1">
            <a:off x="974432" y="3479475"/>
            <a:ext cx="16287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99E1FD3B-DBED-0BEA-2AB0-1DF931422912}"/>
              </a:ext>
            </a:extLst>
          </p:cNvPr>
          <p:cNvSpPr/>
          <p:nvPr/>
        </p:nvSpPr>
        <p:spPr>
          <a:xfrm>
            <a:off x="4614380" y="2773628"/>
            <a:ext cx="1251903" cy="38032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tx1"/>
                </a:solidFill>
              </a:rPr>
              <a:t>Register file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74E967A-C26A-C6AA-2B32-9E38AB6C8472}"/>
              </a:ext>
            </a:extLst>
          </p:cNvPr>
          <p:cNvCxnSpPr>
            <a:cxnSpLocks/>
          </p:cNvCxnSpPr>
          <p:nvPr/>
        </p:nvCxnSpPr>
        <p:spPr>
          <a:xfrm>
            <a:off x="3656227" y="3054373"/>
            <a:ext cx="9535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2050E4A-B26C-D538-F42A-EA02311B6617}"/>
              </a:ext>
            </a:extLst>
          </p:cNvPr>
          <p:cNvSpPr txBox="1"/>
          <p:nvPr/>
        </p:nvSpPr>
        <p:spPr>
          <a:xfrm>
            <a:off x="3831028" y="2802750"/>
            <a:ext cx="6407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wr_en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55BD3C1-5105-D977-E7C2-DB5499559414}"/>
              </a:ext>
            </a:extLst>
          </p:cNvPr>
          <p:cNvSpPr txBox="1"/>
          <p:nvPr/>
        </p:nvSpPr>
        <p:spPr>
          <a:xfrm>
            <a:off x="3832332" y="3202476"/>
            <a:ext cx="6407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rd_en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AF0BD17-6E09-0722-EB2E-FC9129D1C164}"/>
              </a:ext>
            </a:extLst>
          </p:cNvPr>
          <p:cNvCxnSpPr>
            <a:cxnSpLocks/>
          </p:cNvCxnSpPr>
          <p:nvPr/>
        </p:nvCxnSpPr>
        <p:spPr>
          <a:xfrm>
            <a:off x="3656227" y="3456492"/>
            <a:ext cx="9535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DC69F86-B568-E3E9-4386-7E89777492D6}"/>
              </a:ext>
            </a:extLst>
          </p:cNvPr>
          <p:cNvCxnSpPr>
            <a:cxnSpLocks/>
          </p:cNvCxnSpPr>
          <p:nvPr/>
        </p:nvCxnSpPr>
        <p:spPr>
          <a:xfrm>
            <a:off x="3707395" y="5481377"/>
            <a:ext cx="893813" cy="3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8598708-3322-0DA9-B7EF-75AB178B8256}"/>
              </a:ext>
            </a:extLst>
          </p:cNvPr>
          <p:cNvSpPr txBox="1"/>
          <p:nvPr/>
        </p:nvSpPr>
        <p:spPr>
          <a:xfrm>
            <a:off x="3674631" y="4945110"/>
            <a:ext cx="916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addr [11:0]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EC885A7-3A10-09B1-0065-A2D7960F3921}"/>
              </a:ext>
            </a:extLst>
          </p:cNvPr>
          <p:cNvSpPr txBox="1"/>
          <p:nvPr/>
        </p:nvSpPr>
        <p:spPr>
          <a:xfrm>
            <a:off x="3608204" y="5218278"/>
            <a:ext cx="9973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wdata [31:0]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AE0CC0-5899-98AE-6A3A-DE93BEC32F57}"/>
              </a:ext>
            </a:extLst>
          </p:cNvPr>
          <p:cNvSpPr txBox="1"/>
          <p:nvPr/>
        </p:nvSpPr>
        <p:spPr>
          <a:xfrm>
            <a:off x="3656227" y="5494827"/>
            <a:ext cx="9973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rdata [31:0]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599C465-ED8A-19E0-7DD3-3173DD4EE681}"/>
              </a:ext>
            </a:extLst>
          </p:cNvPr>
          <p:cNvSpPr txBox="1"/>
          <p:nvPr/>
        </p:nvSpPr>
        <p:spPr>
          <a:xfrm>
            <a:off x="3654985" y="5736471"/>
            <a:ext cx="9973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reg_err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1410014-0D03-9781-6EEE-FC3CC33A0A4E}"/>
              </a:ext>
            </a:extLst>
          </p:cNvPr>
          <p:cNvCxnSpPr>
            <a:cxnSpLocks/>
          </p:cNvCxnSpPr>
          <p:nvPr/>
        </p:nvCxnSpPr>
        <p:spPr>
          <a:xfrm>
            <a:off x="3710190" y="5208208"/>
            <a:ext cx="8910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2A1BB4A-DBE4-5656-1505-35B23B5493DC}"/>
              </a:ext>
            </a:extLst>
          </p:cNvPr>
          <p:cNvCxnSpPr>
            <a:cxnSpLocks/>
          </p:cNvCxnSpPr>
          <p:nvPr/>
        </p:nvCxnSpPr>
        <p:spPr>
          <a:xfrm flipH="1">
            <a:off x="3656227" y="5737153"/>
            <a:ext cx="9569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row: Bent 11">
            <a:extLst>
              <a:ext uri="{FF2B5EF4-FFF2-40B4-BE49-F238E27FC236}">
                <a16:creationId xmlns:a16="http://schemas.microsoft.com/office/drawing/2014/main" id="{FB2716E9-9F76-6DD9-7019-D7D3E03F556D}"/>
              </a:ext>
            </a:extLst>
          </p:cNvPr>
          <p:cNvSpPr/>
          <p:nvPr/>
        </p:nvSpPr>
        <p:spPr>
          <a:xfrm rot="10800000" flipH="1">
            <a:off x="1644996" y="4024779"/>
            <a:ext cx="1940987" cy="2145745"/>
          </a:xfrm>
          <a:prstGeom prst="bentArrow">
            <a:avLst>
              <a:gd name="adj1" fmla="val 27327"/>
              <a:gd name="adj2" fmla="val 31263"/>
              <a:gd name="adj3" fmla="val 25472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556E314-D10D-AD60-7017-56EC8FF202FD}"/>
              </a:ext>
            </a:extLst>
          </p:cNvPr>
          <p:cNvCxnSpPr>
            <a:cxnSpLocks/>
          </p:cNvCxnSpPr>
          <p:nvPr/>
        </p:nvCxnSpPr>
        <p:spPr>
          <a:xfrm flipH="1">
            <a:off x="3656227" y="5979477"/>
            <a:ext cx="9746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34A2022B-16C9-C38A-1A6E-FD278331A3BA}"/>
              </a:ext>
            </a:extLst>
          </p:cNvPr>
          <p:cNvSpPr/>
          <p:nvPr/>
        </p:nvSpPr>
        <p:spPr>
          <a:xfrm>
            <a:off x="1126617" y="3576633"/>
            <a:ext cx="1468338" cy="724412"/>
          </a:xfrm>
          <a:prstGeom prst="leftRightArrow">
            <a:avLst>
              <a:gd name="adj1" fmla="val 47194"/>
              <a:gd name="adj2" fmla="val 3322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APB bus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41442F6-CA12-74D0-0021-11915D1D776B}"/>
              </a:ext>
            </a:extLst>
          </p:cNvPr>
          <p:cNvSpPr/>
          <p:nvPr/>
        </p:nvSpPr>
        <p:spPr>
          <a:xfrm>
            <a:off x="7026747" y="2389866"/>
            <a:ext cx="1423519" cy="163492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tx1"/>
                </a:solidFill>
              </a:rPr>
              <a:t>Timer control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871C404-879C-FAFF-74DE-6129C007BFF2}"/>
              </a:ext>
            </a:extLst>
          </p:cNvPr>
          <p:cNvSpPr/>
          <p:nvPr/>
        </p:nvSpPr>
        <p:spPr>
          <a:xfrm>
            <a:off x="9090280" y="2380247"/>
            <a:ext cx="1423519" cy="31822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tx1"/>
                </a:solidFill>
              </a:rPr>
              <a:t>Timer counter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0A678C6-E7A6-665F-121E-6EA2B35F642F}"/>
              </a:ext>
            </a:extLst>
          </p:cNvPr>
          <p:cNvSpPr txBox="1"/>
          <p:nvPr/>
        </p:nvSpPr>
        <p:spPr>
          <a:xfrm>
            <a:off x="5935999" y="2606987"/>
            <a:ext cx="916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timer_en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93B32E2-39DB-34E2-709D-F548586A8997}"/>
              </a:ext>
            </a:extLst>
          </p:cNvPr>
          <p:cNvSpPr txBox="1"/>
          <p:nvPr/>
        </p:nvSpPr>
        <p:spPr>
          <a:xfrm>
            <a:off x="5936527" y="2857694"/>
            <a:ext cx="916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div_en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94BE131-5485-4A53-9734-C19EC1EDA1B5}"/>
              </a:ext>
            </a:extLst>
          </p:cNvPr>
          <p:cNvSpPr txBox="1"/>
          <p:nvPr/>
        </p:nvSpPr>
        <p:spPr>
          <a:xfrm>
            <a:off x="5909053" y="3112838"/>
            <a:ext cx="10820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div_val [3:0]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3CA471B-8B84-CB4A-EDE2-598B2EFE622D}"/>
              </a:ext>
            </a:extLst>
          </p:cNvPr>
          <p:cNvSpPr txBox="1"/>
          <p:nvPr/>
        </p:nvSpPr>
        <p:spPr>
          <a:xfrm>
            <a:off x="5901949" y="3368229"/>
            <a:ext cx="10820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halt_req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8195148-6891-C95D-6C51-B98DE2854324}"/>
              </a:ext>
            </a:extLst>
          </p:cNvPr>
          <p:cNvSpPr txBox="1"/>
          <p:nvPr/>
        </p:nvSpPr>
        <p:spPr>
          <a:xfrm>
            <a:off x="5896633" y="3636004"/>
            <a:ext cx="10820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halt_ack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B607132-40EC-BF86-A823-328F4A9A8FA5}"/>
              </a:ext>
            </a:extLst>
          </p:cNvPr>
          <p:cNvSpPr txBox="1"/>
          <p:nvPr/>
        </p:nvSpPr>
        <p:spPr>
          <a:xfrm>
            <a:off x="6937267" y="4180128"/>
            <a:ext cx="10820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tdr0/1_wr_en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9F349AB-7AA9-5189-1C68-1E9297A7E9AF}"/>
              </a:ext>
            </a:extLst>
          </p:cNvPr>
          <p:cNvSpPr txBox="1"/>
          <p:nvPr/>
        </p:nvSpPr>
        <p:spPr>
          <a:xfrm>
            <a:off x="6945470" y="4451510"/>
            <a:ext cx="10820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TDR [63:0]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271A0A8-C3DE-1E7A-36B4-6229E21626C5}"/>
              </a:ext>
            </a:extLst>
          </p:cNvPr>
          <p:cNvSpPr txBox="1"/>
          <p:nvPr/>
        </p:nvSpPr>
        <p:spPr>
          <a:xfrm>
            <a:off x="6929970" y="4691161"/>
            <a:ext cx="10820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tcmp [63:0]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62AB53AC-D147-42FE-B465-929A3105A147}"/>
              </a:ext>
            </a:extLst>
          </p:cNvPr>
          <p:cNvCxnSpPr>
            <a:cxnSpLocks/>
          </p:cNvCxnSpPr>
          <p:nvPr/>
        </p:nvCxnSpPr>
        <p:spPr>
          <a:xfrm>
            <a:off x="5873387" y="2851238"/>
            <a:ext cx="11533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D05059A-2F15-D85C-4720-B2FB2CDDB1EA}"/>
              </a:ext>
            </a:extLst>
          </p:cNvPr>
          <p:cNvCxnSpPr>
            <a:cxnSpLocks/>
          </p:cNvCxnSpPr>
          <p:nvPr/>
        </p:nvCxnSpPr>
        <p:spPr>
          <a:xfrm>
            <a:off x="5866283" y="3107576"/>
            <a:ext cx="11604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D103AA9B-896C-1D23-8EBE-4959655C4C1B}"/>
              </a:ext>
            </a:extLst>
          </p:cNvPr>
          <p:cNvCxnSpPr>
            <a:cxnSpLocks/>
          </p:cNvCxnSpPr>
          <p:nvPr/>
        </p:nvCxnSpPr>
        <p:spPr>
          <a:xfrm>
            <a:off x="5873387" y="3364645"/>
            <a:ext cx="11462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EED43DCE-BF6B-E855-9804-561D939EE474}"/>
              </a:ext>
            </a:extLst>
          </p:cNvPr>
          <p:cNvCxnSpPr>
            <a:cxnSpLocks/>
          </p:cNvCxnSpPr>
          <p:nvPr/>
        </p:nvCxnSpPr>
        <p:spPr>
          <a:xfrm>
            <a:off x="5866283" y="3625080"/>
            <a:ext cx="11533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1A65BBE5-9ED2-F494-1759-91827B699B1E}"/>
              </a:ext>
            </a:extLst>
          </p:cNvPr>
          <p:cNvCxnSpPr>
            <a:cxnSpLocks/>
          </p:cNvCxnSpPr>
          <p:nvPr/>
        </p:nvCxnSpPr>
        <p:spPr>
          <a:xfrm flipH="1">
            <a:off x="5866283" y="3890641"/>
            <a:ext cx="1162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 108">
            <a:extLst>
              <a:ext uri="{FF2B5EF4-FFF2-40B4-BE49-F238E27FC236}">
                <a16:creationId xmlns:a16="http://schemas.microsoft.com/office/drawing/2014/main" id="{95275356-8077-B000-DDA5-27571ECA49B9}"/>
              </a:ext>
            </a:extLst>
          </p:cNvPr>
          <p:cNvSpPr/>
          <p:nvPr/>
        </p:nvSpPr>
        <p:spPr>
          <a:xfrm>
            <a:off x="9069259" y="5734712"/>
            <a:ext cx="1440777" cy="6823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tx1"/>
                </a:solidFill>
              </a:rPr>
              <a:t>Timer interrupt</a:t>
            </a:r>
          </a:p>
        </p:txBody>
      </p: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7D703B79-5C90-12B4-E2CC-81B3912E52B6}"/>
              </a:ext>
            </a:extLst>
          </p:cNvPr>
          <p:cNvCxnSpPr>
            <a:cxnSpLocks/>
            <a:stCxn id="15" idx="6"/>
          </p:cNvCxnSpPr>
          <p:nvPr/>
        </p:nvCxnSpPr>
        <p:spPr>
          <a:xfrm flipV="1">
            <a:off x="6819546" y="2208046"/>
            <a:ext cx="1761110" cy="644186"/>
          </a:xfrm>
          <a:prstGeom prst="bentConnector3">
            <a:avLst>
              <a:gd name="adj1" fmla="val -137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03B6FF92-1AED-E7FC-38F7-EE3862F00A36}"/>
              </a:ext>
            </a:extLst>
          </p:cNvPr>
          <p:cNvSpPr/>
          <p:nvPr/>
        </p:nvSpPr>
        <p:spPr>
          <a:xfrm flipV="1">
            <a:off x="6773827" y="282937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E4CEEBB-15AC-0B1A-07A7-A8AEC81550D9}"/>
              </a:ext>
            </a:extLst>
          </p:cNvPr>
          <p:cNvCxnSpPr>
            <a:cxnSpLocks/>
          </p:cNvCxnSpPr>
          <p:nvPr/>
        </p:nvCxnSpPr>
        <p:spPr>
          <a:xfrm>
            <a:off x="8450266" y="3211752"/>
            <a:ext cx="6400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6C9682E-CC3D-6EE3-F65D-FFD149D8A95A}"/>
              </a:ext>
            </a:extLst>
          </p:cNvPr>
          <p:cNvSpPr txBox="1"/>
          <p:nvPr/>
        </p:nvSpPr>
        <p:spPr>
          <a:xfrm>
            <a:off x="8310543" y="2949684"/>
            <a:ext cx="916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cnt_en</a:t>
            </a:r>
          </a:p>
        </p:txBody>
      </p:sp>
      <p:cxnSp>
        <p:nvCxnSpPr>
          <p:cNvPr id="125" name="Connector: Elbow 124">
            <a:extLst>
              <a:ext uri="{FF2B5EF4-FFF2-40B4-BE49-F238E27FC236}">
                <a16:creationId xmlns:a16="http://schemas.microsoft.com/office/drawing/2014/main" id="{ED75E83D-1B75-B1A7-538A-DFBA39D39CEC}"/>
              </a:ext>
            </a:extLst>
          </p:cNvPr>
          <p:cNvCxnSpPr>
            <a:cxnSpLocks/>
          </p:cNvCxnSpPr>
          <p:nvPr/>
        </p:nvCxnSpPr>
        <p:spPr>
          <a:xfrm>
            <a:off x="8419364" y="2208046"/>
            <a:ext cx="670916" cy="5525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48A2289C-71BE-1268-DC11-E9471E3BA25B}"/>
              </a:ext>
            </a:extLst>
          </p:cNvPr>
          <p:cNvCxnSpPr>
            <a:cxnSpLocks/>
          </p:cNvCxnSpPr>
          <p:nvPr/>
        </p:nvCxnSpPr>
        <p:spPr>
          <a:xfrm>
            <a:off x="5873387" y="4425462"/>
            <a:ext cx="32168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41E010AD-FBDF-B62F-77DC-C2187A50A965}"/>
              </a:ext>
            </a:extLst>
          </p:cNvPr>
          <p:cNvCxnSpPr>
            <a:cxnSpLocks/>
          </p:cNvCxnSpPr>
          <p:nvPr/>
        </p:nvCxnSpPr>
        <p:spPr>
          <a:xfrm>
            <a:off x="5866283" y="4694119"/>
            <a:ext cx="32168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2DF9C850-8765-F2CD-DEE8-25D4A52E60E4}"/>
              </a:ext>
            </a:extLst>
          </p:cNvPr>
          <p:cNvCxnSpPr>
            <a:cxnSpLocks/>
          </p:cNvCxnSpPr>
          <p:nvPr/>
        </p:nvCxnSpPr>
        <p:spPr>
          <a:xfrm>
            <a:off x="5866283" y="4945110"/>
            <a:ext cx="32168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85322040-4D1B-2F4A-06E6-451FF7E681B4}"/>
              </a:ext>
            </a:extLst>
          </p:cNvPr>
          <p:cNvCxnSpPr>
            <a:cxnSpLocks/>
          </p:cNvCxnSpPr>
          <p:nvPr/>
        </p:nvCxnSpPr>
        <p:spPr>
          <a:xfrm flipH="1">
            <a:off x="5862537" y="5208208"/>
            <a:ext cx="32206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9816F9E5-C002-2595-7570-B84BE3224730}"/>
              </a:ext>
            </a:extLst>
          </p:cNvPr>
          <p:cNvSpPr txBox="1"/>
          <p:nvPr/>
        </p:nvSpPr>
        <p:spPr>
          <a:xfrm>
            <a:off x="6945470" y="4951941"/>
            <a:ext cx="10820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cnt_val [63:0]</a:t>
            </a:r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FD449F75-B818-2454-40CA-6BD1CD1C3642}"/>
              </a:ext>
            </a:extLst>
          </p:cNvPr>
          <p:cNvCxnSpPr>
            <a:cxnSpLocks/>
          </p:cNvCxnSpPr>
          <p:nvPr/>
        </p:nvCxnSpPr>
        <p:spPr>
          <a:xfrm flipH="1" flipV="1">
            <a:off x="5862537" y="5424512"/>
            <a:ext cx="3216893" cy="2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D00F62B6-64D3-1BB2-68CE-6760FDB37E0A}"/>
              </a:ext>
            </a:extLst>
          </p:cNvPr>
          <p:cNvSpPr txBox="1"/>
          <p:nvPr/>
        </p:nvSpPr>
        <p:spPr>
          <a:xfrm>
            <a:off x="6949022" y="5169784"/>
            <a:ext cx="10820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cmp_match</a:t>
            </a: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1BE951AF-9B04-7C94-96D1-6CBCFB3FF800}"/>
              </a:ext>
            </a:extLst>
          </p:cNvPr>
          <p:cNvCxnSpPr>
            <a:cxnSpLocks/>
          </p:cNvCxnSpPr>
          <p:nvPr/>
        </p:nvCxnSpPr>
        <p:spPr>
          <a:xfrm>
            <a:off x="5878037" y="5909952"/>
            <a:ext cx="31912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9EC1C520-81B0-825D-259A-0D9C9FBF518D}"/>
              </a:ext>
            </a:extLst>
          </p:cNvPr>
          <p:cNvSpPr txBox="1"/>
          <p:nvPr/>
        </p:nvSpPr>
        <p:spPr>
          <a:xfrm>
            <a:off x="6937267" y="5668244"/>
            <a:ext cx="10820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int_en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4F732195-13DE-85C5-DE3B-817E31F1DC57}"/>
              </a:ext>
            </a:extLst>
          </p:cNvPr>
          <p:cNvCxnSpPr>
            <a:cxnSpLocks/>
          </p:cNvCxnSpPr>
          <p:nvPr/>
        </p:nvCxnSpPr>
        <p:spPr>
          <a:xfrm>
            <a:off x="5862537" y="6278295"/>
            <a:ext cx="32067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10D251F4-FEE0-F198-CEF7-00107054C8EE}"/>
              </a:ext>
            </a:extLst>
          </p:cNvPr>
          <p:cNvSpPr txBox="1"/>
          <p:nvPr/>
        </p:nvSpPr>
        <p:spPr>
          <a:xfrm>
            <a:off x="6931842" y="6034637"/>
            <a:ext cx="10820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int_st</a:t>
            </a:r>
          </a:p>
        </p:txBody>
      </p:sp>
    </p:spTree>
    <p:extLst>
      <p:ext uri="{BB962C8B-B14F-4D97-AF65-F5344CB8AC3E}">
        <p14:creationId xmlns:p14="http://schemas.microsoft.com/office/powerpoint/2010/main" val="3759550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AB967-C943-3269-432C-1C6077292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B63CF7-AFD1-3EA1-6DBF-34AC07067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3" y="188640"/>
            <a:ext cx="8586972" cy="796908"/>
          </a:xfrm>
        </p:spPr>
        <p:txBody>
          <a:bodyPr/>
          <a:lstStyle/>
          <a:p>
            <a:r>
              <a:rPr lang="en-US" altLang="ko-KR"/>
              <a:t>2</a:t>
            </a:r>
            <a:r>
              <a:rPr lang="en-US" altLang="ko-KR">
                <a:latin typeface="+mj-lt"/>
              </a:rPr>
              <a:t>.3. Logic diagram – APB slave </a:t>
            </a:r>
            <a:endParaRPr lang="ko-KR" altLang="en-US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BCAB24-A30E-BE05-7F09-CA60F2625B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81" r="1647" b="2381"/>
          <a:stretch/>
        </p:blipFill>
        <p:spPr>
          <a:xfrm>
            <a:off x="263353" y="1484784"/>
            <a:ext cx="4682679" cy="23042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CA7654-4435-432C-0547-CB9147C368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240"/>
          <a:stretch/>
        </p:blipFill>
        <p:spPr>
          <a:xfrm>
            <a:off x="3143672" y="4769018"/>
            <a:ext cx="2082470" cy="15103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FD09FB4-86E1-2F30-6DF0-5ED770E1F5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48" t="3993" r="-360" b="1299"/>
          <a:stretch/>
        </p:blipFill>
        <p:spPr>
          <a:xfrm>
            <a:off x="407368" y="4754076"/>
            <a:ext cx="2082469" cy="1540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79D870-B741-4518-F7E1-DB5EAD9C225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631" t="16438" r="10670" b="17897"/>
          <a:stretch/>
        </p:blipFill>
        <p:spPr>
          <a:xfrm>
            <a:off x="6450318" y="2928193"/>
            <a:ext cx="4800012" cy="36517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308B91-5400-6010-647E-221582A63F8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477" t="12006" r="1406" b="17697"/>
          <a:stretch/>
        </p:blipFill>
        <p:spPr>
          <a:xfrm>
            <a:off x="5975027" y="1556792"/>
            <a:ext cx="5750595" cy="117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3779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55D81-1605-C1D6-9FE4-17B7162A3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E2C48A-AFAC-2FBA-39BA-2A8531878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3" y="188640"/>
            <a:ext cx="8586972" cy="796908"/>
          </a:xfrm>
        </p:spPr>
        <p:txBody>
          <a:bodyPr/>
          <a:lstStyle/>
          <a:p>
            <a:r>
              <a:rPr lang="en-US" altLang="ko-KR"/>
              <a:t>2</a:t>
            </a:r>
            <a:r>
              <a:rPr lang="en-US" altLang="ko-KR">
                <a:latin typeface="+mj-lt"/>
              </a:rPr>
              <a:t>.3. Logic diagram – Timer </a:t>
            </a:r>
            <a:r>
              <a:rPr lang="en-US" altLang="ko-KR"/>
              <a:t>Control</a:t>
            </a:r>
            <a:r>
              <a:rPr lang="en-US" altLang="ko-KR">
                <a:latin typeface="+mj-lt"/>
              </a:rPr>
              <a:t> Register </a:t>
            </a:r>
            <a:endParaRPr lang="ko-KR" altLang="en-US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7C2942-F9F8-0EB7-6648-29DA47C0C3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02" t="2967" r="3922" b="1848"/>
          <a:stretch/>
        </p:blipFill>
        <p:spPr>
          <a:xfrm>
            <a:off x="6240017" y="1484784"/>
            <a:ext cx="5832648" cy="53285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FF6EC9-BEB0-A019-4900-26659B7F58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3" t="8637" b="11312"/>
          <a:stretch/>
        </p:blipFill>
        <p:spPr>
          <a:xfrm>
            <a:off x="247434" y="1628800"/>
            <a:ext cx="4408405" cy="7969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C80847-B794-F5EA-BB82-5C89D08DC9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743" t="10274" r="3990" b="10959"/>
          <a:stretch/>
        </p:blipFill>
        <p:spPr>
          <a:xfrm>
            <a:off x="119335" y="2873644"/>
            <a:ext cx="5976665" cy="20914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C9E182-B493-F0E3-DF63-6C273F2EC7F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948" t="3993" r="-360" b="1299"/>
          <a:stretch/>
        </p:blipFill>
        <p:spPr>
          <a:xfrm>
            <a:off x="824901" y="5413063"/>
            <a:ext cx="1656184" cy="1224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5969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4B59E-5343-9C72-EA5D-23D1A9810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30E73B-87B1-AF94-3B78-928E6C415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3" y="188640"/>
            <a:ext cx="8586972" cy="796908"/>
          </a:xfrm>
        </p:spPr>
        <p:txBody>
          <a:bodyPr/>
          <a:lstStyle/>
          <a:p>
            <a:r>
              <a:rPr lang="en-US" altLang="ko-KR"/>
              <a:t>2</a:t>
            </a:r>
            <a:r>
              <a:rPr lang="en-US" altLang="ko-KR">
                <a:latin typeface="+mj-lt"/>
              </a:rPr>
              <a:t>.3. Logic diagram – Timer Data Register 0 / 1 </a:t>
            </a:r>
            <a:endParaRPr lang="ko-KR" altLang="en-US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F94FE3-E908-CED0-6271-A86F928FC8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09" t="1537" r="3476" b="936"/>
          <a:stretch/>
        </p:blipFill>
        <p:spPr>
          <a:xfrm>
            <a:off x="6888088" y="1484784"/>
            <a:ext cx="4464496" cy="53285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1380EB-17A8-AB3A-697A-214B936FAA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13046" r="499" b="12263"/>
          <a:stretch/>
        </p:blipFill>
        <p:spPr>
          <a:xfrm>
            <a:off x="335360" y="3573016"/>
            <a:ext cx="4824536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005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94826-128F-5131-D41E-93C3E01EA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E601B8-87BE-943F-ABF2-1860DEE24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3" y="188640"/>
            <a:ext cx="8586972" cy="796908"/>
          </a:xfrm>
        </p:spPr>
        <p:txBody>
          <a:bodyPr/>
          <a:lstStyle/>
          <a:p>
            <a:r>
              <a:rPr lang="en-US" altLang="ko-KR"/>
              <a:t>2</a:t>
            </a:r>
            <a:r>
              <a:rPr lang="en-US" altLang="ko-KR">
                <a:latin typeface="+mj-lt"/>
              </a:rPr>
              <a:t>.3. Logic diagram – Timer Compare Register 0 / 1  </a:t>
            </a:r>
            <a:endParaRPr lang="ko-KR" altLang="en-US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8F1E82-BC79-3814-A96A-FFF7B85218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0" t="6221" r="1191" b="11032"/>
          <a:stretch/>
        </p:blipFill>
        <p:spPr>
          <a:xfrm>
            <a:off x="335360" y="3501008"/>
            <a:ext cx="4752527" cy="9361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8CF299-E0E4-F40C-3642-1F3236BB67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85" t="1878" r="1272" b="2202"/>
          <a:stretch/>
        </p:blipFill>
        <p:spPr>
          <a:xfrm>
            <a:off x="6888088" y="1484784"/>
            <a:ext cx="4573517" cy="531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2851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0514B-26E7-EBB8-9856-34662C06B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9CB9BF-A3FC-CFB7-525E-5987BB566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3" y="188640"/>
            <a:ext cx="8586972" cy="796908"/>
          </a:xfrm>
        </p:spPr>
        <p:txBody>
          <a:bodyPr/>
          <a:lstStyle/>
          <a:p>
            <a:r>
              <a:rPr lang="en-US" altLang="ko-KR"/>
              <a:t>2</a:t>
            </a:r>
            <a:r>
              <a:rPr lang="en-US" altLang="ko-KR">
                <a:latin typeface="+mj-lt"/>
              </a:rPr>
              <a:t>.3. Logic diagram – Timer Interrupt Enable Register</a:t>
            </a:r>
            <a:endParaRPr lang="ko-KR" altLang="en-US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84F561-6498-0DD5-74A0-7D0B3AF692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78" r="1778" b="10502"/>
          <a:stretch/>
        </p:blipFill>
        <p:spPr>
          <a:xfrm>
            <a:off x="126036" y="2204864"/>
            <a:ext cx="11939927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5296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2ABD-BE4B-9EB3-B6CA-7326D0C11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4D3B19-5E86-A764-F8A7-B68C400EA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3" y="188640"/>
            <a:ext cx="8586972" cy="796908"/>
          </a:xfrm>
        </p:spPr>
        <p:txBody>
          <a:bodyPr/>
          <a:lstStyle/>
          <a:p>
            <a:r>
              <a:rPr lang="en-US" altLang="ko-KR"/>
              <a:t>2</a:t>
            </a:r>
            <a:r>
              <a:rPr lang="en-US" altLang="ko-KR">
                <a:latin typeface="+mj-lt"/>
              </a:rPr>
              <a:t>.3. Logic diagram – Timer Interrupt Status Register</a:t>
            </a:r>
            <a:endParaRPr lang="ko-KR" altLang="en-US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C2A8B0-6B9E-7459-AF00-F02C9F3F95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06" t="9999" r="719" b="15000"/>
          <a:stretch/>
        </p:blipFill>
        <p:spPr>
          <a:xfrm>
            <a:off x="263353" y="1700808"/>
            <a:ext cx="3979079" cy="7969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6FFAE3-013D-7083-F726-FAF4BA167C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46" t="4772" r="2331" b="6469"/>
          <a:stretch/>
        </p:blipFill>
        <p:spPr>
          <a:xfrm>
            <a:off x="4295800" y="1535125"/>
            <a:ext cx="7793571" cy="520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7923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11DEB-4D50-2A66-871D-7234C757E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6E55B7-72D5-740E-DF65-002A2B186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3" y="188640"/>
            <a:ext cx="8586972" cy="796908"/>
          </a:xfrm>
        </p:spPr>
        <p:txBody>
          <a:bodyPr/>
          <a:lstStyle/>
          <a:p>
            <a:r>
              <a:rPr lang="en-US" altLang="ko-KR"/>
              <a:t>2</a:t>
            </a:r>
            <a:r>
              <a:rPr lang="en-US" altLang="ko-KR">
                <a:latin typeface="+mj-lt"/>
              </a:rPr>
              <a:t>.3. Logic diagram – Timer Halt Control Status Register</a:t>
            </a:r>
            <a:endParaRPr lang="ko-KR" altLang="en-US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D0FFC7-88C9-4B5B-A5A1-A127021E45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56" t="20155" r="5958" b="25081"/>
          <a:stretch/>
        </p:blipFill>
        <p:spPr>
          <a:xfrm>
            <a:off x="649347" y="2420888"/>
            <a:ext cx="10893306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437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C1A77-3B86-F48F-D9D1-9A97E10B3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D3166E-DAF8-D2F3-B298-2D19F37FD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3" y="188640"/>
            <a:ext cx="8586972" cy="796908"/>
          </a:xfrm>
        </p:spPr>
        <p:txBody>
          <a:bodyPr/>
          <a:lstStyle/>
          <a:p>
            <a:r>
              <a:rPr lang="en-US" altLang="ko-KR"/>
              <a:t>2</a:t>
            </a:r>
            <a:r>
              <a:rPr lang="en-US" altLang="ko-KR">
                <a:latin typeface="+mj-lt"/>
              </a:rPr>
              <a:t>.3. Logic diagram – Timer Control</a:t>
            </a:r>
            <a:endParaRPr lang="ko-KR" altLang="en-US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74AD19-3455-FC0D-83C0-0B6559C60A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14" t="9663" r="11434" b="23156"/>
          <a:stretch/>
        </p:blipFill>
        <p:spPr>
          <a:xfrm>
            <a:off x="47328" y="1484784"/>
            <a:ext cx="7344816" cy="53285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7016BE-E0BC-1609-EA6F-978FC9B90A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998" t="18897" r="8728" b="30710"/>
          <a:stretch/>
        </p:blipFill>
        <p:spPr>
          <a:xfrm>
            <a:off x="8174791" y="1916832"/>
            <a:ext cx="3456384" cy="9956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7513F8-3EB8-50BD-A55A-AD527A3E62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16" t="11860" r="10513" b="23035"/>
          <a:stretch/>
        </p:blipFill>
        <p:spPr>
          <a:xfrm>
            <a:off x="7747463" y="4119531"/>
            <a:ext cx="4311041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1980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410D8-5E07-A082-FCE5-3AEBB194E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6C0D9B-39A1-B7EE-2AA0-117A9429F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3" y="188640"/>
            <a:ext cx="8586972" cy="796908"/>
          </a:xfrm>
        </p:spPr>
        <p:txBody>
          <a:bodyPr/>
          <a:lstStyle/>
          <a:p>
            <a:r>
              <a:rPr lang="en-US" altLang="ko-KR"/>
              <a:t>2</a:t>
            </a:r>
            <a:r>
              <a:rPr lang="en-US" altLang="ko-KR">
                <a:latin typeface="+mj-lt"/>
              </a:rPr>
              <a:t>.3. Logic diagram – Timer Counter</a:t>
            </a:r>
            <a:endParaRPr lang="ko-KR" altLang="en-US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472685-220C-CF4D-6D80-53F1E52941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06" t="18323" r="2229" b="8799"/>
          <a:stretch/>
        </p:blipFill>
        <p:spPr>
          <a:xfrm>
            <a:off x="479376" y="2060848"/>
            <a:ext cx="4162675" cy="17281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10104A-EC94-D207-7513-6E9F260E45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71" t="17889" r="3539" b="13843"/>
          <a:stretch/>
        </p:blipFill>
        <p:spPr>
          <a:xfrm>
            <a:off x="796517" y="4653136"/>
            <a:ext cx="3528392" cy="14401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6EA5DC1-1595-888E-4D65-B754C7B78A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117" t="7519" r="7671" b="8248"/>
          <a:stretch/>
        </p:blipFill>
        <p:spPr>
          <a:xfrm>
            <a:off x="6096001" y="1484784"/>
            <a:ext cx="6034882" cy="532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0147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9BA97-AC3B-E627-BCA1-703483DB7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E2D4AA-7FA3-77A6-53ED-7795DB5B1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3" y="188640"/>
            <a:ext cx="8586972" cy="796908"/>
          </a:xfrm>
        </p:spPr>
        <p:txBody>
          <a:bodyPr/>
          <a:lstStyle/>
          <a:p>
            <a:r>
              <a:rPr lang="en-US" altLang="ko-KR"/>
              <a:t>2</a:t>
            </a:r>
            <a:r>
              <a:rPr lang="en-US" altLang="ko-KR">
                <a:latin typeface="+mj-lt"/>
              </a:rPr>
              <a:t>.4. Waveform – APB with wait state (1 cycle)</a:t>
            </a:r>
            <a:endParaRPr lang="ko-KR" altLang="en-US" dirty="0">
              <a:latin typeface="+mj-lt"/>
            </a:endParaRPr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E4128696-DC8A-14EC-5A66-172801101D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3" t="10596" r="2346" b="4546"/>
          <a:stretch/>
        </p:blipFill>
        <p:spPr>
          <a:xfrm>
            <a:off x="47328" y="1988840"/>
            <a:ext cx="12097344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2133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9EDE8-99AB-9EE4-7615-3242685FB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F25D1D-1109-FF20-9082-F328A4B90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3" y="188640"/>
            <a:ext cx="8586972" cy="796908"/>
          </a:xfrm>
        </p:spPr>
        <p:txBody>
          <a:bodyPr/>
          <a:lstStyle/>
          <a:p>
            <a:r>
              <a:rPr lang="en-US" altLang="ko-KR"/>
              <a:t>2</a:t>
            </a:r>
            <a:r>
              <a:rPr lang="en-US" altLang="ko-KR">
                <a:latin typeface="+mj-lt"/>
              </a:rPr>
              <a:t>.4. Waveform – Counter control mode</a:t>
            </a:r>
            <a:endParaRPr lang="ko-KR" altLang="en-US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D9EEFB-D45C-9E02-3F70-746D77D234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41" t="8451" r="3378" b="11874"/>
          <a:stretch/>
        </p:blipFill>
        <p:spPr>
          <a:xfrm>
            <a:off x="289588" y="1628800"/>
            <a:ext cx="5239340" cy="23762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63D73C-BCEE-6B85-5292-5ECCE4B49F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66" t="11775" r="7507" b="12505"/>
          <a:stretch/>
        </p:blipFill>
        <p:spPr>
          <a:xfrm>
            <a:off x="6672064" y="1628800"/>
            <a:ext cx="5235486" cy="23762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CFA174-E6EB-EA4E-A6A7-A5E4821EB9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23" t="9162" r="4148" b="10668"/>
          <a:stretch/>
        </p:blipFill>
        <p:spPr>
          <a:xfrm>
            <a:off x="3610985" y="4293097"/>
            <a:ext cx="5239340" cy="237626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0E47D185-C477-8F2E-FF11-15C900532BE1}"/>
              </a:ext>
            </a:extLst>
          </p:cNvPr>
          <p:cNvSpPr/>
          <p:nvPr/>
        </p:nvSpPr>
        <p:spPr>
          <a:xfrm>
            <a:off x="289588" y="2598499"/>
            <a:ext cx="504056" cy="4368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2C7321F-D8E1-9113-051B-68398212B271}"/>
              </a:ext>
            </a:extLst>
          </p:cNvPr>
          <p:cNvSpPr/>
          <p:nvPr/>
        </p:nvSpPr>
        <p:spPr>
          <a:xfrm>
            <a:off x="6667736" y="2603183"/>
            <a:ext cx="504056" cy="4368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3D10F48-F0A7-FAED-F5A8-F27E312D68BF}"/>
              </a:ext>
            </a:extLst>
          </p:cNvPr>
          <p:cNvSpPr/>
          <p:nvPr/>
        </p:nvSpPr>
        <p:spPr>
          <a:xfrm>
            <a:off x="3610985" y="5262794"/>
            <a:ext cx="504056" cy="4368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725496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BF45F-7274-9C4E-EA0E-61598372E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A23FA7-86AD-48A0-E8FE-4FB9FF247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3" y="188640"/>
            <a:ext cx="8586972" cy="796908"/>
          </a:xfrm>
        </p:spPr>
        <p:txBody>
          <a:bodyPr/>
          <a:lstStyle/>
          <a:p>
            <a:r>
              <a:rPr lang="en-US" altLang="ko-KR"/>
              <a:t>2</a:t>
            </a:r>
            <a:r>
              <a:rPr lang="en-US" altLang="ko-KR">
                <a:latin typeface="+mj-lt"/>
              </a:rPr>
              <a:t>.4. Waveform – </a:t>
            </a:r>
            <a:r>
              <a:rPr lang="en-US" altLang="ko-KR"/>
              <a:t>Interrupt assert condition</a:t>
            </a:r>
            <a:endParaRPr lang="ko-KR" altLang="en-US" dirty="0"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C9F904-55BB-01B8-79D6-17ADC0EBEC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9" t="6024" r="7200" b="6753"/>
          <a:stretch/>
        </p:blipFill>
        <p:spPr>
          <a:xfrm>
            <a:off x="2261574" y="1700808"/>
            <a:ext cx="7668852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7033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5FC84-A783-6E32-F44A-97636D519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A80333-D002-BB79-90FA-340506857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3" y="188640"/>
            <a:ext cx="8586972" cy="796908"/>
          </a:xfrm>
        </p:spPr>
        <p:txBody>
          <a:bodyPr/>
          <a:lstStyle/>
          <a:p>
            <a:r>
              <a:rPr lang="en-US" altLang="ko-KR"/>
              <a:t>2</a:t>
            </a:r>
            <a:r>
              <a:rPr lang="en-US" altLang="ko-KR">
                <a:latin typeface="+mj-lt"/>
              </a:rPr>
              <a:t>.4. Waveform – </a:t>
            </a:r>
            <a:r>
              <a:rPr lang="en-US" altLang="ko-KR"/>
              <a:t>Interrupt clear</a:t>
            </a:r>
            <a:endParaRPr lang="ko-KR" altLang="en-US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BD3A30-6559-16E4-4264-1BF30CDD97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8" t="1493" r="4032" b="2985"/>
          <a:stretch/>
        </p:blipFill>
        <p:spPr>
          <a:xfrm>
            <a:off x="2099556" y="1700808"/>
            <a:ext cx="7992888" cy="488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2013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B1FCB-6EF7-79C9-82AE-65E7EB4AB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E796C9-CB49-1058-BE22-666879F72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3" y="188640"/>
            <a:ext cx="8586972" cy="796908"/>
          </a:xfrm>
        </p:spPr>
        <p:txBody>
          <a:bodyPr/>
          <a:lstStyle/>
          <a:p>
            <a:r>
              <a:rPr lang="en-US" altLang="ko-KR"/>
              <a:t>2</a:t>
            </a:r>
            <a:r>
              <a:rPr lang="en-US" altLang="ko-KR">
                <a:latin typeface="+mj-lt"/>
              </a:rPr>
              <a:t>.4. Waveform – Halt mode</a:t>
            </a:r>
            <a:endParaRPr lang="ko-KR" altLang="en-US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074034-C932-E207-5A77-8D5D3BFE71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9" t="16185" r="7971" b="16184"/>
          <a:stretch/>
        </p:blipFill>
        <p:spPr>
          <a:xfrm>
            <a:off x="360753" y="1638928"/>
            <a:ext cx="5207545" cy="22631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701E4B-4576-E151-A98D-18EEF76A56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3" t="21809" r="5649" b="16522"/>
          <a:stretch/>
        </p:blipFill>
        <p:spPr>
          <a:xfrm>
            <a:off x="6746203" y="1638927"/>
            <a:ext cx="5207544" cy="22631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C3DA52-392F-F529-6E62-75BCF4A458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12" t="11289" r="10022" b="16551"/>
          <a:stretch/>
        </p:blipFill>
        <p:spPr>
          <a:xfrm>
            <a:off x="360753" y="4275149"/>
            <a:ext cx="5207545" cy="22631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DD9477-2748-09DE-FF92-AF035D8BFB2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28" t="9815" r="8362" b="16967"/>
          <a:stretch/>
        </p:blipFill>
        <p:spPr>
          <a:xfrm>
            <a:off x="6746203" y="4275148"/>
            <a:ext cx="5207544" cy="2263157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DFA8FAB8-8230-3211-674E-FDEDBE589D02}"/>
              </a:ext>
            </a:extLst>
          </p:cNvPr>
          <p:cNvSpPr/>
          <p:nvPr/>
        </p:nvSpPr>
        <p:spPr>
          <a:xfrm>
            <a:off x="238253" y="2490191"/>
            <a:ext cx="504056" cy="4368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835207B-FCB5-FB8C-42DF-3C94379968FB}"/>
              </a:ext>
            </a:extLst>
          </p:cNvPr>
          <p:cNvSpPr/>
          <p:nvPr/>
        </p:nvSpPr>
        <p:spPr>
          <a:xfrm>
            <a:off x="6633802" y="2490191"/>
            <a:ext cx="504056" cy="4368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FB050CC-6715-DE83-8533-DD196B85CC01}"/>
              </a:ext>
            </a:extLst>
          </p:cNvPr>
          <p:cNvSpPr/>
          <p:nvPr/>
        </p:nvSpPr>
        <p:spPr>
          <a:xfrm>
            <a:off x="238253" y="5188292"/>
            <a:ext cx="504056" cy="4368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FA734B5-A2A6-41D5-1705-DACD5CEC596D}"/>
              </a:ext>
            </a:extLst>
          </p:cNvPr>
          <p:cNvSpPr/>
          <p:nvPr/>
        </p:nvSpPr>
        <p:spPr>
          <a:xfrm>
            <a:off x="6633802" y="5188292"/>
            <a:ext cx="504056" cy="4368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546742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1F14A-8D80-BA12-E109-52411BB15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0D9D2C97-0E69-8524-2552-3999809180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7" t="496" r="787" b="3393"/>
          <a:stretch/>
        </p:blipFill>
        <p:spPr>
          <a:xfrm>
            <a:off x="1235460" y="2262108"/>
            <a:ext cx="9721080" cy="440725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43934D8-BC25-3A1E-B5F1-09BEF71FD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3" y="188640"/>
            <a:ext cx="8586972" cy="796908"/>
          </a:xfrm>
        </p:spPr>
        <p:txBody>
          <a:bodyPr/>
          <a:lstStyle/>
          <a:p>
            <a:r>
              <a:rPr lang="en-US" altLang="ko-KR">
                <a:latin typeface="+mj-lt"/>
              </a:rPr>
              <a:t>3.</a:t>
            </a:r>
            <a:r>
              <a:rPr lang="en-US" altLang="ko-KR"/>
              <a:t>1</a:t>
            </a:r>
            <a:r>
              <a:rPr lang="en-US" altLang="ko-KR">
                <a:latin typeface="+mj-lt"/>
              </a:rPr>
              <a:t>. </a:t>
            </a:r>
            <a:r>
              <a:rPr lang="en-US" altLang="ko-KR"/>
              <a:t>Verification plan</a:t>
            </a:r>
            <a:endParaRPr lang="ko-KR" altLang="en-US" dirty="0">
              <a:latin typeface="+mj-lt"/>
            </a:endParaRPr>
          </a:p>
        </p:txBody>
      </p:sp>
      <p:sp>
        <p:nvSpPr>
          <p:cNvPr id="18" name="내용 개체 틀 36">
            <a:extLst>
              <a:ext uri="{FF2B5EF4-FFF2-40B4-BE49-F238E27FC236}">
                <a16:creationId xmlns:a16="http://schemas.microsoft.com/office/drawing/2014/main" id="{811CC65F-587D-4751-329A-0E3F5F2D3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672" y="1700808"/>
            <a:ext cx="5435392" cy="432048"/>
          </a:xfrm>
        </p:spPr>
        <p:txBody>
          <a:bodyPr>
            <a:noAutofit/>
          </a:bodyPr>
          <a:lstStyle/>
          <a:p>
            <a:pPr algn="just" latinLnBrk="0">
              <a:lnSpc>
                <a:spcPct val="114000"/>
              </a:lnSpc>
              <a:spcBef>
                <a:spcPts val="0"/>
              </a:spcBef>
            </a:pPr>
            <a:r>
              <a:rPr lang="en-US" sz="1700" kern="1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The full verification plan is attached to this Excel file:</a:t>
            </a:r>
            <a:endParaRPr lang="en-US" sz="1700" kern="100">
              <a:solidFill>
                <a:schemeClr val="tx1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20AA8994-FE5B-9F9A-C90D-D0785E89E6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404504"/>
              </p:ext>
            </p:extLst>
          </p:nvPr>
        </p:nvGraphicFramePr>
        <p:xfrm>
          <a:off x="7824192" y="1518378"/>
          <a:ext cx="940171" cy="796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3" imgW="914400" imgH="792685" progId="Excel.Sheet.12">
                  <p:link updateAutomatic="1"/>
                </p:oleObj>
              </mc:Choice>
              <mc:Fallback>
                <p:oleObj name="Worksheet" showAsIcon="1" r:id="rId3" imgW="914400" imgH="79268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24192" y="1518378"/>
                        <a:ext cx="940171" cy="7969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851304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448C8-55B6-B481-E0FC-DAA6E208E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7869B4-7EAE-C022-1C98-08FEDD77D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3" y="188640"/>
            <a:ext cx="8586972" cy="796908"/>
          </a:xfrm>
        </p:spPr>
        <p:txBody>
          <a:bodyPr/>
          <a:lstStyle/>
          <a:p>
            <a:r>
              <a:rPr lang="en-US" altLang="ko-KR">
                <a:latin typeface="+mj-lt"/>
              </a:rPr>
              <a:t>3.2. </a:t>
            </a:r>
            <a:r>
              <a:rPr lang="en-US" altLang="ko-KR"/>
              <a:t>Verification environment</a:t>
            </a:r>
            <a:endParaRPr lang="ko-KR" altLang="en-US" dirty="0">
              <a:latin typeface="+mj-lt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5723EC6B-9215-65E8-9A1F-94D19E8BA4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53" t="7268" r="2938" b="8422"/>
          <a:stretch/>
        </p:blipFill>
        <p:spPr>
          <a:xfrm>
            <a:off x="263353" y="1572351"/>
            <a:ext cx="8077943" cy="4585160"/>
          </a:xfrm>
          <a:prstGeom prst="rect">
            <a:avLst/>
          </a:prstGeom>
        </p:spPr>
      </p:pic>
      <p:sp>
        <p:nvSpPr>
          <p:cNvPr id="7" name="내용 개체 틀 36">
            <a:extLst>
              <a:ext uri="{FF2B5EF4-FFF2-40B4-BE49-F238E27FC236}">
                <a16:creationId xmlns:a16="http://schemas.microsoft.com/office/drawing/2014/main" id="{4490605D-E919-A899-6BD3-E4DF4B372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4628" y="6186317"/>
            <a:ext cx="5435392" cy="432048"/>
          </a:xfrm>
        </p:spPr>
        <p:txBody>
          <a:bodyPr>
            <a:noAutofit/>
          </a:bodyPr>
          <a:lstStyle/>
          <a:p>
            <a:pPr algn="ctr" latinLnBrk="0">
              <a:lnSpc>
                <a:spcPct val="114000"/>
              </a:lnSpc>
              <a:spcBef>
                <a:spcPts val="0"/>
              </a:spcBef>
            </a:pPr>
            <a:r>
              <a:rPr lang="en-US" sz="1700" kern="1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Verification environment for 64-bit timer</a:t>
            </a:r>
            <a:endParaRPr lang="en-US" sz="1700" kern="100">
              <a:solidFill>
                <a:schemeClr val="tx1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11CECC5-482A-2109-CC10-14E4EE699F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80" t="3232" r="4650" b="5999"/>
          <a:stretch/>
        </p:blipFill>
        <p:spPr>
          <a:xfrm>
            <a:off x="8976320" y="1572351"/>
            <a:ext cx="2901007" cy="4824536"/>
          </a:xfrm>
          <a:prstGeom prst="rect">
            <a:avLst/>
          </a:prstGeom>
        </p:spPr>
      </p:pic>
      <p:sp>
        <p:nvSpPr>
          <p:cNvPr id="17" name="내용 개체 틀 36">
            <a:extLst>
              <a:ext uri="{FF2B5EF4-FFF2-40B4-BE49-F238E27FC236}">
                <a16:creationId xmlns:a16="http://schemas.microsoft.com/office/drawing/2014/main" id="{97E0C6AA-9DD7-0263-03A8-A318562F1AD9}"/>
              </a:ext>
            </a:extLst>
          </p:cNvPr>
          <p:cNvSpPr txBox="1">
            <a:spLocks/>
          </p:cNvSpPr>
          <p:nvPr/>
        </p:nvSpPr>
        <p:spPr>
          <a:xfrm>
            <a:off x="7709128" y="6393921"/>
            <a:ext cx="5435392" cy="43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lnSpc>
                <a:spcPct val="114000"/>
              </a:lnSpc>
              <a:spcBef>
                <a:spcPts val="0"/>
              </a:spcBef>
            </a:pPr>
            <a:r>
              <a:rPr lang="en-US" sz="1700" kern="1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Timer IP project structure</a:t>
            </a:r>
          </a:p>
        </p:txBody>
      </p:sp>
      <p:cxnSp>
        <p:nvCxnSpPr>
          <p:cNvPr id="18" name="Google Shape;143;p24">
            <a:extLst>
              <a:ext uri="{FF2B5EF4-FFF2-40B4-BE49-F238E27FC236}">
                <a16:creationId xmlns:a16="http://schemas.microsoft.com/office/drawing/2014/main" id="{9260871E-D8F2-E55A-0853-3EAEA40BA2A4}"/>
              </a:ext>
            </a:extLst>
          </p:cNvPr>
          <p:cNvCxnSpPr>
            <a:cxnSpLocks/>
          </p:cNvCxnSpPr>
          <p:nvPr/>
        </p:nvCxnSpPr>
        <p:spPr>
          <a:xfrm>
            <a:off x="8636968" y="1572351"/>
            <a:ext cx="0" cy="5097009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Dot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9535251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2898F-ADA2-0187-6B34-845C098D6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DC8BF3-389F-2A0B-0FF3-6B44183CE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3" y="188640"/>
            <a:ext cx="8586972" cy="796908"/>
          </a:xfrm>
        </p:spPr>
        <p:txBody>
          <a:bodyPr/>
          <a:lstStyle/>
          <a:p>
            <a:r>
              <a:rPr lang="en-US" altLang="ko-KR"/>
              <a:t>4</a:t>
            </a:r>
            <a:r>
              <a:rPr lang="en-US" altLang="ko-KR">
                <a:latin typeface="+mj-lt"/>
              </a:rPr>
              <a:t>.</a:t>
            </a:r>
            <a:r>
              <a:rPr lang="en-US" altLang="ko-KR"/>
              <a:t>1</a:t>
            </a:r>
            <a:r>
              <a:rPr lang="en-US" altLang="ko-KR">
                <a:latin typeface="+mj-lt"/>
              </a:rPr>
              <a:t>. Golden model result</a:t>
            </a:r>
            <a:endParaRPr lang="ko-KR" altLang="en-US" dirty="0">
              <a:latin typeface="+mj-lt"/>
            </a:endParaRPr>
          </a:p>
        </p:txBody>
      </p:sp>
      <p:sp>
        <p:nvSpPr>
          <p:cNvPr id="4" name="내용 개체 틀 36">
            <a:extLst>
              <a:ext uri="{FF2B5EF4-FFF2-40B4-BE49-F238E27FC236}">
                <a16:creationId xmlns:a16="http://schemas.microsoft.com/office/drawing/2014/main" id="{60BDA112-C6FF-BDFA-A09A-4853A469D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9606" y="1785909"/>
            <a:ext cx="1799514" cy="348933"/>
          </a:xfrm>
        </p:spPr>
        <p:txBody>
          <a:bodyPr anchor="ctr">
            <a:noAutofit/>
          </a:bodyPr>
          <a:lstStyle/>
          <a:p>
            <a:pPr algn="ctr" latinLnBrk="0">
              <a:lnSpc>
                <a:spcPct val="114000"/>
              </a:lnSpc>
              <a:spcBef>
                <a:spcPts val="0"/>
              </a:spcBef>
            </a:pPr>
            <a:r>
              <a:rPr lang="en-US" sz="1700" kern="1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reg_byte_access.v</a:t>
            </a:r>
            <a:endParaRPr lang="en-US" sz="1700" kern="100">
              <a:solidFill>
                <a:schemeClr val="tx1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24C35C-558D-D9B4-E729-14F60DC89B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8" t="63009" r="3576" b="7019"/>
          <a:stretch/>
        </p:blipFill>
        <p:spPr>
          <a:xfrm>
            <a:off x="579754" y="2316498"/>
            <a:ext cx="4001859" cy="1873802"/>
          </a:xfrm>
          <a:prstGeom prst="rect">
            <a:avLst/>
          </a:prstGeom>
        </p:spPr>
      </p:pic>
      <p:sp>
        <p:nvSpPr>
          <p:cNvPr id="9" name="내용 개체 틀 36">
            <a:extLst>
              <a:ext uri="{FF2B5EF4-FFF2-40B4-BE49-F238E27FC236}">
                <a16:creationId xmlns:a16="http://schemas.microsoft.com/office/drawing/2014/main" id="{F7B87FEA-9D5E-343D-84BC-D70352A99A3C}"/>
              </a:ext>
            </a:extLst>
          </p:cNvPr>
          <p:cNvSpPr txBox="1">
            <a:spLocks/>
          </p:cNvSpPr>
          <p:nvPr/>
        </p:nvSpPr>
        <p:spPr>
          <a:xfrm>
            <a:off x="3621028" y="1412776"/>
            <a:ext cx="4949944" cy="3764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lnSpc>
                <a:spcPct val="114000"/>
              </a:lnSpc>
              <a:spcBef>
                <a:spcPts val="0"/>
              </a:spcBef>
            </a:pPr>
            <a:r>
              <a:rPr lang="en-US" sz="1700">
                <a:solidFill>
                  <a:schemeClr val="tx1"/>
                </a:solidFill>
                <a:latin typeface="+mn-lt"/>
              </a:rPr>
              <a:t>Here are some test cases’ results of the golden model:</a:t>
            </a:r>
            <a:endParaRPr lang="en-US" sz="1700" kern="100">
              <a:solidFill>
                <a:schemeClr val="tx1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BA416B2-C73E-CD70-463F-1D45ADDE4F35}"/>
              </a:ext>
            </a:extLst>
          </p:cNvPr>
          <p:cNvSpPr/>
          <p:nvPr/>
        </p:nvSpPr>
        <p:spPr>
          <a:xfrm>
            <a:off x="1422881" y="1785909"/>
            <a:ext cx="504056" cy="4368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2" name="내용 개체 틀 36">
            <a:extLst>
              <a:ext uri="{FF2B5EF4-FFF2-40B4-BE49-F238E27FC236}">
                <a16:creationId xmlns:a16="http://schemas.microsoft.com/office/drawing/2014/main" id="{B12AD9F4-F8DD-EDE8-5916-3D83A4576E9C}"/>
              </a:ext>
            </a:extLst>
          </p:cNvPr>
          <p:cNvSpPr txBox="1">
            <a:spLocks/>
          </p:cNvSpPr>
          <p:nvPr/>
        </p:nvSpPr>
        <p:spPr>
          <a:xfrm>
            <a:off x="9077875" y="1785909"/>
            <a:ext cx="1799514" cy="3489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lnSpc>
                <a:spcPct val="114000"/>
              </a:lnSpc>
              <a:spcBef>
                <a:spcPts val="0"/>
              </a:spcBef>
            </a:pPr>
            <a:r>
              <a:rPr lang="en-US" sz="1700" kern="1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apb_pslverr_chk.v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1674B1A-FAB5-1781-C77E-E958879A831F}"/>
              </a:ext>
            </a:extLst>
          </p:cNvPr>
          <p:cNvSpPr/>
          <p:nvPr/>
        </p:nvSpPr>
        <p:spPr>
          <a:xfrm>
            <a:off x="8584436" y="1785909"/>
            <a:ext cx="504056" cy="4368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4" name="내용 개체 틀 36">
            <a:extLst>
              <a:ext uri="{FF2B5EF4-FFF2-40B4-BE49-F238E27FC236}">
                <a16:creationId xmlns:a16="http://schemas.microsoft.com/office/drawing/2014/main" id="{C59F5BA5-C57D-C80B-A531-526CF3579D66}"/>
              </a:ext>
            </a:extLst>
          </p:cNvPr>
          <p:cNvSpPr txBox="1">
            <a:spLocks/>
          </p:cNvSpPr>
          <p:nvPr/>
        </p:nvSpPr>
        <p:spPr>
          <a:xfrm>
            <a:off x="1909606" y="4286286"/>
            <a:ext cx="1799514" cy="3489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lnSpc>
                <a:spcPct val="114000"/>
              </a:lnSpc>
              <a:spcBef>
                <a:spcPts val="0"/>
              </a:spcBef>
            </a:pPr>
            <a:r>
              <a:rPr lang="en-US" sz="1700" kern="1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cnt_halt_chk.v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4DD4E80-526A-03CE-6B32-FB1CC84215E5}"/>
              </a:ext>
            </a:extLst>
          </p:cNvPr>
          <p:cNvSpPr/>
          <p:nvPr/>
        </p:nvSpPr>
        <p:spPr>
          <a:xfrm>
            <a:off x="1579563" y="4286286"/>
            <a:ext cx="504056" cy="4368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6" name="내용 개체 틀 36">
            <a:extLst>
              <a:ext uri="{FF2B5EF4-FFF2-40B4-BE49-F238E27FC236}">
                <a16:creationId xmlns:a16="http://schemas.microsoft.com/office/drawing/2014/main" id="{0839BF30-9E5D-B51C-C75C-73A4F557EF5B}"/>
              </a:ext>
            </a:extLst>
          </p:cNvPr>
          <p:cNvSpPr txBox="1">
            <a:spLocks/>
          </p:cNvSpPr>
          <p:nvPr/>
        </p:nvSpPr>
        <p:spPr>
          <a:xfrm>
            <a:off x="9029495" y="4286286"/>
            <a:ext cx="1799514" cy="3489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lnSpc>
                <a:spcPct val="114000"/>
              </a:lnSpc>
              <a:spcBef>
                <a:spcPts val="0"/>
              </a:spcBef>
            </a:pPr>
            <a:r>
              <a:rPr lang="en-US" sz="1700" kern="1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interrupt_chk.v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3031382-CEE2-DD5A-4C3E-F5E75089DE74}"/>
              </a:ext>
            </a:extLst>
          </p:cNvPr>
          <p:cNvSpPr/>
          <p:nvPr/>
        </p:nvSpPr>
        <p:spPr>
          <a:xfrm>
            <a:off x="8670880" y="4286286"/>
            <a:ext cx="504056" cy="4368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4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E142C66-05D8-D5C6-C4D6-FBF5F4194E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7" t="60462" r="6199" b="8126"/>
          <a:stretch/>
        </p:blipFill>
        <p:spPr>
          <a:xfrm>
            <a:off x="7610268" y="2316498"/>
            <a:ext cx="4001859" cy="187153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0B680F2-78D1-7547-0337-5BE1F8F013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80" t="66635" r="11541" b="6206"/>
          <a:stretch/>
        </p:blipFill>
        <p:spPr>
          <a:xfrm>
            <a:off x="7610269" y="4816875"/>
            <a:ext cx="4001859" cy="187153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D274553-AFBC-6FCA-7C9E-E26198EEC6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021" t="71773" r="21415" b="8703"/>
          <a:stretch/>
        </p:blipFill>
        <p:spPr>
          <a:xfrm>
            <a:off x="579871" y="4816875"/>
            <a:ext cx="4001859" cy="187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8049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0DFC3-385C-C347-D4BD-6EBC27E9A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0AC68-0AEE-6B33-A526-8B6F32D85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3" y="188640"/>
            <a:ext cx="8586972" cy="796908"/>
          </a:xfrm>
        </p:spPr>
        <p:txBody>
          <a:bodyPr/>
          <a:lstStyle/>
          <a:p>
            <a:r>
              <a:rPr lang="en-US" altLang="ko-KR"/>
              <a:t>4</a:t>
            </a:r>
            <a:r>
              <a:rPr lang="en-US" altLang="ko-KR">
                <a:latin typeface="+mj-lt"/>
              </a:rPr>
              <a:t>.2. Simulation </a:t>
            </a:r>
            <a:r>
              <a:rPr lang="en-US" altLang="ko-KR"/>
              <a:t>waveform </a:t>
            </a:r>
            <a:endParaRPr lang="ko-KR" altLang="en-US" dirty="0">
              <a:latin typeface="+mj-lt"/>
            </a:endParaRPr>
          </a:p>
        </p:txBody>
      </p:sp>
      <p:sp>
        <p:nvSpPr>
          <p:cNvPr id="9" name="내용 개체 틀 36">
            <a:extLst>
              <a:ext uri="{FF2B5EF4-FFF2-40B4-BE49-F238E27FC236}">
                <a16:creationId xmlns:a16="http://schemas.microsoft.com/office/drawing/2014/main" id="{51947CF4-AE82-EA31-2B49-A027B67B2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5600" y="1784918"/>
            <a:ext cx="1799514" cy="348933"/>
          </a:xfrm>
        </p:spPr>
        <p:txBody>
          <a:bodyPr anchor="ctr">
            <a:noAutofit/>
          </a:bodyPr>
          <a:lstStyle/>
          <a:p>
            <a:pPr algn="ctr" latinLnBrk="0">
              <a:lnSpc>
                <a:spcPct val="114000"/>
              </a:lnSpc>
              <a:spcBef>
                <a:spcPts val="0"/>
              </a:spcBef>
            </a:pPr>
            <a:r>
              <a:rPr lang="en-US" sz="1700" kern="1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reg_byte_access.v</a:t>
            </a:r>
            <a:endParaRPr lang="en-US" sz="1700" kern="100">
              <a:solidFill>
                <a:schemeClr val="tx1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내용 개체 틀 36">
            <a:extLst>
              <a:ext uri="{FF2B5EF4-FFF2-40B4-BE49-F238E27FC236}">
                <a16:creationId xmlns:a16="http://schemas.microsoft.com/office/drawing/2014/main" id="{5E663C51-1FF7-40F8-FD50-F38A5EB3675A}"/>
              </a:ext>
            </a:extLst>
          </p:cNvPr>
          <p:cNvSpPr txBox="1">
            <a:spLocks/>
          </p:cNvSpPr>
          <p:nvPr/>
        </p:nvSpPr>
        <p:spPr>
          <a:xfrm>
            <a:off x="2950302" y="1409477"/>
            <a:ext cx="6291396" cy="3764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lnSpc>
                <a:spcPct val="114000"/>
              </a:lnSpc>
              <a:spcBef>
                <a:spcPts val="0"/>
              </a:spcBef>
            </a:pPr>
            <a:r>
              <a:rPr lang="en-US" sz="1700">
                <a:solidFill>
                  <a:schemeClr val="tx1"/>
                </a:solidFill>
                <a:latin typeface="+mn-lt"/>
              </a:rPr>
              <a:t>Here are some test cases’ simulation waveforms:</a:t>
            </a:r>
            <a:endParaRPr lang="en-US" sz="1700" kern="100">
              <a:solidFill>
                <a:schemeClr val="tx1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5074426-8DC2-EFEB-881E-05FCD3B2281C}"/>
              </a:ext>
            </a:extLst>
          </p:cNvPr>
          <p:cNvSpPr/>
          <p:nvPr/>
        </p:nvSpPr>
        <p:spPr>
          <a:xfrm>
            <a:off x="2008875" y="1784918"/>
            <a:ext cx="504056" cy="4368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3" name="내용 개체 틀 36">
            <a:extLst>
              <a:ext uri="{FF2B5EF4-FFF2-40B4-BE49-F238E27FC236}">
                <a16:creationId xmlns:a16="http://schemas.microsoft.com/office/drawing/2014/main" id="{724666B5-3710-345A-456C-916135CF6D97}"/>
              </a:ext>
            </a:extLst>
          </p:cNvPr>
          <p:cNvSpPr txBox="1">
            <a:spLocks/>
          </p:cNvSpPr>
          <p:nvPr/>
        </p:nvSpPr>
        <p:spPr>
          <a:xfrm>
            <a:off x="8383611" y="1784918"/>
            <a:ext cx="1799514" cy="3489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lnSpc>
                <a:spcPct val="114000"/>
              </a:lnSpc>
              <a:spcBef>
                <a:spcPts val="0"/>
              </a:spcBef>
            </a:pPr>
            <a:r>
              <a:rPr lang="en-US" sz="1700" kern="1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apb_pslverr_chk.v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394299B-E9CA-0E9D-2A14-4C98A3B3523C}"/>
              </a:ext>
            </a:extLst>
          </p:cNvPr>
          <p:cNvSpPr/>
          <p:nvPr/>
        </p:nvSpPr>
        <p:spPr>
          <a:xfrm>
            <a:off x="7890172" y="1784918"/>
            <a:ext cx="504056" cy="4368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5" name="내용 개체 틀 36">
            <a:extLst>
              <a:ext uri="{FF2B5EF4-FFF2-40B4-BE49-F238E27FC236}">
                <a16:creationId xmlns:a16="http://schemas.microsoft.com/office/drawing/2014/main" id="{585D21C8-C882-D243-8BA5-627B00000B6D}"/>
              </a:ext>
            </a:extLst>
          </p:cNvPr>
          <p:cNvSpPr txBox="1">
            <a:spLocks/>
          </p:cNvSpPr>
          <p:nvPr/>
        </p:nvSpPr>
        <p:spPr>
          <a:xfrm>
            <a:off x="2512931" y="4286286"/>
            <a:ext cx="1799514" cy="3489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lnSpc>
                <a:spcPct val="114000"/>
              </a:lnSpc>
              <a:spcBef>
                <a:spcPts val="0"/>
              </a:spcBef>
            </a:pPr>
            <a:r>
              <a:rPr lang="en-US" sz="1700" kern="1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cnt_halt_chk.v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226EB3A-AE24-0E33-B994-31A9F10D1650}"/>
              </a:ext>
            </a:extLst>
          </p:cNvPr>
          <p:cNvSpPr/>
          <p:nvPr/>
        </p:nvSpPr>
        <p:spPr>
          <a:xfrm>
            <a:off x="2182888" y="4286286"/>
            <a:ext cx="504056" cy="4368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7" name="내용 개체 틀 36">
            <a:extLst>
              <a:ext uri="{FF2B5EF4-FFF2-40B4-BE49-F238E27FC236}">
                <a16:creationId xmlns:a16="http://schemas.microsoft.com/office/drawing/2014/main" id="{C6A1EC94-5372-62D4-9D2B-A97465BF876E}"/>
              </a:ext>
            </a:extLst>
          </p:cNvPr>
          <p:cNvSpPr txBox="1">
            <a:spLocks/>
          </p:cNvSpPr>
          <p:nvPr/>
        </p:nvSpPr>
        <p:spPr>
          <a:xfrm>
            <a:off x="8394943" y="4284021"/>
            <a:ext cx="1799514" cy="3489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lnSpc>
                <a:spcPct val="114000"/>
              </a:lnSpc>
              <a:spcBef>
                <a:spcPts val="0"/>
              </a:spcBef>
            </a:pPr>
            <a:r>
              <a:rPr lang="en-US" sz="1700" kern="1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interrupt_chk.v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986CEA7-C562-30C0-7828-3EBB38AC4A69}"/>
              </a:ext>
            </a:extLst>
          </p:cNvPr>
          <p:cNvSpPr/>
          <p:nvPr/>
        </p:nvSpPr>
        <p:spPr>
          <a:xfrm>
            <a:off x="8036328" y="4284021"/>
            <a:ext cx="504056" cy="4368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4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5D0680C-C966-38B0-4851-EE7081061D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234" t="30540" r="2386" b="26306"/>
          <a:stretch/>
        </p:blipFill>
        <p:spPr>
          <a:xfrm>
            <a:off x="579871" y="2314234"/>
            <a:ext cx="5228098" cy="187380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AECAA9C-0992-F1E8-999A-094BC7AEA1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773" t="33857" r="2351" b="24800"/>
          <a:stretch/>
        </p:blipFill>
        <p:spPr>
          <a:xfrm>
            <a:off x="6384030" y="2320019"/>
            <a:ext cx="5228098" cy="186801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F1A1AF5-2E22-72F1-8A0D-D1A02B1730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323" t="31787" r="2455" b="20823"/>
          <a:stretch/>
        </p:blipFill>
        <p:spPr>
          <a:xfrm>
            <a:off x="585009" y="4816875"/>
            <a:ext cx="5228098" cy="18715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50E66EC-ECBD-83BC-6FD5-240EA031AEE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4717" t="40830" r="2019" b="21949"/>
          <a:stretch/>
        </p:blipFill>
        <p:spPr>
          <a:xfrm>
            <a:off x="6378893" y="4816875"/>
            <a:ext cx="5228098" cy="187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5330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E5310-F83A-BB5F-B2BA-4C7682A9C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1DD9F2-04F0-20D3-DF45-4FBAD26F7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3" y="188640"/>
            <a:ext cx="8586972" cy="796908"/>
          </a:xfrm>
        </p:spPr>
        <p:txBody>
          <a:bodyPr/>
          <a:lstStyle/>
          <a:p>
            <a:r>
              <a:rPr lang="en-US" altLang="ko-KR"/>
              <a:t>4</a:t>
            </a:r>
            <a:r>
              <a:rPr lang="en-US" altLang="ko-KR">
                <a:latin typeface="+mj-lt"/>
              </a:rPr>
              <a:t>.3. Coverage result</a:t>
            </a:r>
            <a:endParaRPr lang="ko-KR" altLang="en-US" dirty="0">
              <a:latin typeface="+mj-lt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C5F6402-74FC-D2DE-83C1-DFA6EC9F5614}"/>
              </a:ext>
            </a:extLst>
          </p:cNvPr>
          <p:cNvSpPr/>
          <p:nvPr/>
        </p:nvSpPr>
        <p:spPr>
          <a:xfrm>
            <a:off x="251932" y="1547047"/>
            <a:ext cx="504056" cy="4368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1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ECDDCC5E-72DB-1DC4-5C03-1B9B591FD0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612" t="38840" r="24738" b="23952"/>
          <a:stretch/>
        </p:blipFill>
        <p:spPr>
          <a:xfrm>
            <a:off x="983432" y="2049133"/>
            <a:ext cx="3691204" cy="2450664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86F0F3B3-F85A-8682-0D37-E6B025C3C5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200" t="24983" r="62591" b="49755"/>
          <a:stretch/>
        </p:blipFill>
        <p:spPr>
          <a:xfrm>
            <a:off x="6816080" y="2049133"/>
            <a:ext cx="4954698" cy="245066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E0C8F893-B4CC-29BF-3C62-5BFCD0CD680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823" t="32963" r="778" b="30287"/>
          <a:stretch/>
        </p:blipFill>
        <p:spPr>
          <a:xfrm>
            <a:off x="2530927" y="5158280"/>
            <a:ext cx="7130146" cy="1583087"/>
          </a:xfrm>
          <a:prstGeom prst="rect">
            <a:avLst/>
          </a:prstGeom>
        </p:spPr>
      </p:pic>
      <p:sp>
        <p:nvSpPr>
          <p:cNvPr id="54" name="내용 개체 틀 36">
            <a:extLst>
              <a:ext uri="{FF2B5EF4-FFF2-40B4-BE49-F238E27FC236}">
                <a16:creationId xmlns:a16="http://schemas.microsoft.com/office/drawing/2014/main" id="{0C082844-AB7E-5343-203A-728FF0B5C200}"/>
              </a:ext>
            </a:extLst>
          </p:cNvPr>
          <p:cNvSpPr txBox="1">
            <a:spLocks/>
          </p:cNvSpPr>
          <p:nvPr/>
        </p:nvSpPr>
        <p:spPr>
          <a:xfrm>
            <a:off x="715854" y="1551867"/>
            <a:ext cx="4824536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lnSpc>
                <a:spcPct val="114000"/>
              </a:lnSpc>
              <a:spcBef>
                <a:spcPts val="0"/>
              </a:spcBef>
            </a:pPr>
            <a:r>
              <a:rPr lang="en-US" sz="1700" kern="1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Load “Exclusion File” (*.do) with appropriate reasons 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0FFAD29-ED22-D572-0CD6-08396E15E451}"/>
              </a:ext>
            </a:extLst>
          </p:cNvPr>
          <p:cNvSpPr/>
          <p:nvPr/>
        </p:nvSpPr>
        <p:spPr>
          <a:xfrm>
            <a:off x="6634344" y="1547047"/>
            <a:ext cx="504056" cy="4368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8" name="내용 개체 틀 36">
            <a:extLst>
              <a:ext uri="{FF2B5EF4-FFF2-40B4-BE49-F238E27FC236}">
                <a16:creationId xmlns:a16="http://schemas.microsoft.com/office/drawing/2014/main" id="{001682E2-FD33-7F5C-D759-0C800622C9C2}"/>
              </a:ext>
            </a:extLst>
          </p:cNvPr>
          <p:cNvSpPr txBox="1">
            <a:spLocks/>
          </p:cNvSpPr>
          <p:nvPr/>
        </p:nvSpPr>
        <p:spPr>
          <a:xfrm>
            <a:off x="7098266" y="1551867"/>
            <a:ext cx="4954698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lnSpc>
                <a:spcPct val="114000"/>
              </a:lnSpc>
              <a:spcBef>
                <a:spcPts val="0"/>
              </a:spcBef>
            </a:pPr>
            <a:r>
              <a:rPr lang="en-US" sz="1700" kern="1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Coverage text reports: Achieve 100% coverage of DUT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C2ED577-6FC0-C69E-7303-4655AA07BF82}"/>
              </a:ext>
            </a:extLst>
          </p:cNvPr>
          <p:cNvSpPr/>
          <p:nvPr/>
        </p:nvSpPr>
        <p:spPr>
          <a:xfrm>
            <a:off x="3399830" y="4610605"/>
            <a:ext cx="504056" cy="4368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61" name="내용 개체 틀 36">
            <a:extLst>
              <a:ext uri="{FF2B5EF4-FFF2-40B4-BE49-F238E27FC236}">
                <a16:creationId xmlns:a16="http://schemas.microsoft.com/office/drawing/2014/main" id="{9E9B62FB-4F10-3E38-B305-B5DDD1171112}"/>
              </a:ext>
            </a:extLst>
          </p:cNvPr>
          <p:cNvSpPr txBox="1">
            <a:spLocks/>
          </p:cNvSpPr>
          <p:nvPr/>
        </p:nvSpPr>
        <p:spPr>
          <a:xfrm>
            <a:off x="3863752" y="4615425"/>
            <a:ext cx="5112568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lnSpc>
                <a:spcPct val="114000"/>
              </a:lnSpc>
              <a:spcBef>
                <a:spcPts val="0"/>
              </a:spcBef>
            </a:pPr>
            <a:r>
              <a:rPr lang="en-US" sz="1700" kern="1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Coverage HTML reports: Achieve 100% coverage of DUT</a:t>
            </a:r>
          </a:p>
        </p:txBody>
      </p:sp>
    </p:spTree>
    <p:extLst>
      <p:ext uri="{BB962C8B-B14F-4D97-AF65-F5344CB8AC3E}">
        <p14:creationId xmlns:p14="http://schemas.microsoft.com/office/powerpoint/2010/main" val="26550235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1524000" y="4581128"/>
            <a:ext cx="9144000" cy="1224136"/>
          </a:xfrm>
        </p:spPr>
        <p:txBody>
          <a:bodyPr/>
          <a:lstStyle/>
          <a:p>
            <a:r>
              <a:rPr lang="en-US" altLang="ko-KR" dirty="0">
                <a:latin typeface="+mj-lt"/>
              </a:rPr>
              <a:t>THANK YOU</a:t>
            </a:r>
            <a:endParaRPr lang="ko-KR" altLang="en-US" dirty="0"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Calibri"/>
        <a:ea typeface="맑은 고딕"/>
        <a:cs typeface=""/>
      </a:majorFont>
      <a:minorFont>
        <a:latin typeface="Calibri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24627</TotalTime>
  <Words>2225</Words>
  <Application>Microsoft Office PowerPoint</Application>
  <PresentationFormat>Widescreen</PresentationFormat>
  <Paragraphs>421</Paragraphs>
  <Slides>39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Links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8" baseType="lpstr">
      <vt:lpstr>굴림체</vt:lpstr>
      <vt:lpstr>Calibri Light</vt:lpstr>
      <vt:lpstr>맑은 고딕</vt:lpstr>
      <vt:lpstr>-apple-system</vt:lpstr>
      <vt:lpstr>Wingdings</vt:lpstr>
      <vt:lpstr>Courier New</vt:lpstr>
      <vt:lpstr>Arial</vt:lpstr>
      <vt:lpstr>Office 테마</vt:lpstr>
      <vt:lpstr>C:\Projects\Courses\IC-Training-Center-Vietnam_Fundamentals-of-Digital-IC-Design\Session 16\Final Project\Timer IP verification plan.xlsx</vt:lpstr>
      <vt:lpstr>PowerPoint Presentation</vt:lpstr>
      <vt:lpstr>PowerPoint Presentation</vt:lpstr>
      <vt:lpstr>1.1. Timer Features </vt:lpstr>
      <vt:lpstr>1.2. Detail Functional Description – Counter</vt:lpstr>
      <vt:lpstr>1.2. Detail Functional Description – Halted</vt:lpstr>
      <vt:lpstr>1.2. Detail Functional Description – Timer Interrupt</vt:lpstr>
      <vt:lpstr>1.2. Detail Functional Description – Counting Mode</vt:lpstr>
      <vt:lpstr>1.2. Detail Functional Description – APB slave / Register</vt:lpstr>
      <vt:lpstr>1.3. Register Specification – Register Summary</vt:lpstr>
      <vt:lpstr>1.3. Register Specification – Timer Control Register (TCR)</vt:lpstr>
      <vt:lpstr>1.3. Register Specification – Timer Data Register 0 (TDR0)</vt:lpstr>
      <vt:lpstr>1.3. Register Specification – Timer Data Register 1 (TDR1)</vt:lpstr>
      <vt:lpstr>1.3. Register Specification – Timer Compare Register 0 (TCMP0)</vt:lpstr>
      <vt:lpstr>1.3. Register Specification – Timer Compare Register 1 (TCMP1)</vt:lpstr>
      <vt:lpstr>1.3. Register Specification – Timer Interrupt Enable Register (TIER)</vt:lpstr>
      <vt:lpstr>1.3. Register Specification – Timer Interrupt Status Register (TISR)</vt:lpstr>
      <vt:lpstr>1.3. Register Specification – Timer Halt Control Status Register (THCSR)</vt:lpstr>
      <vt:lpstr>2.1. IO Port List</vt:lpstr>
      <vt:lpstr>2.2. Block diagram</vt:lpstr>
      <vt:lpstr>2.3. Logic diagram – APB slave </vt:lpstr>
      <vt:lpstr>2.3. Logic diagram – Timer Control Register </vt:lpstr>
      <vt:lpstr>2.3. Logic diagram – Timer Data Register 0 / 1 </vt:lpstr>
      <vt:lpstr>2.3. Logic diagram – Timer Compare Register 0 / 1  </vt:lpstr>
      <vt:lpstr>2.3. Logic diagram – Timer Interrupt Enable Register</vt:lpstr>
      <vt:lpstr>2.3. Logic diagram – Timer Interrupt Status Register</vt:lpstr>
      <vt:lpstr>2.3. Logic diagram – Timer Halt Control Status Register</vt:lpstr>
      <vt:lpstr>2.3. Logic diagram – Timer Control</vt:lpstr>
      <vt:lpstr>2.3. Logic diagram – Timer Counter</vt:lpstr>
      <vt:lpstr>2.4. Waveform – APB with wait state (1 cycle)</vt:lpstr>
      <vt:lpstr>2.4. Waveform – Counter control mode</vt:lpstr>
      <vt:lpstr>2.4. Waveform – Interrupt assert condition</vt:lpstr>
      <vt:lpstr>2.4. Waveform – Interrupt clear</vt:lpstr>
      <vt:lpstr>2.4. Waveform – Halt mode</vt:lpstr>
      <vt:lpstr>3.1. Verification plan</vt:lpstr>
      <vt:lpstr>3.2. Verification environment</vt:lpstr>
      <vt:lpstr>4.1. Golden model result</vt:lpstr>
      <vt:lpstr>4.2. Simulation waveform </vt:lpstr>
      <vt:lpstr>4.3. Coverage result</vt:lpstr>
      <vt:lpstr>THANK YOU</vt:lpstr>
    </vt:vector>
  </TitlesOfParts>
  <Manager>Slide Members</Manager>
  <Company>YESFORM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Members</dc:title>
  <dc:subject>Powerpoint Templates , Diagram, Chart, Google slides, Keynote</dc:subject>
  <dc:creator>Slide Members by HS.SEO</dc:creator>
  <cp:keywords>SlideMembers, ppt, PPT Templates, Presentation, Diagram, Chart, Yesform, Google slides, Keynote, Free Slides</cp:keywords>
  <dc:description>The copyright of this document is at Slide Members. Unauthorized copying may result in legal sanctions.</dc:description>
  <cp:lastModifiedBy>Duy Quang Phạm</cp:lastModifiedBy>
  <cp:revision>167</cp:revision>
  <dcterms:created xsi:type="dcterms:W3CDTF">2010-02-01T08:03:16Z</dcterms:created>
  <dcterms:modified xsi:type="dcterms:W3CDTF">2025-01-29T19:20:16Z</dcterms:modified>
  <cp:category>www.slidemembers.com</cp:category>
</cp:coreProperties>
</file>